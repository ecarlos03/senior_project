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6858000" cy="9144000"/>
  <p:embeddedFontLst>
    <p:embeddedFont>
      <p:font typeface="Old Standard TT" panose="020B0604020202020204" charset="0"/>
      <p:regular r:id="rId31"/>
      <p:bold r:id="rId32"/>
      <p: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91205EF-5B13-46E4-86EE-77241638B498}">
  <a:tblStyle styleId="{491205EF-5B13-46E4-86EE-77241638B49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1186" y="293"/>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c41e98eae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c41e98eae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c41e98eae2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c41e98eae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c603cb1a5f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c603cb1a5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c603cb1a5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c603cb1a5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c603cb1a5f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c603cb1a5f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c603cb1a5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c603cb1a5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c41e98eae2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c41e98eae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c4225421dd_2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c4225421dd_2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c41e98eae2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c41e98eae2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bd518147cb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bd518147cb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bd518147cb_0_5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bd518147cb_0_5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c41e98eae2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c41e98eae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4225421dd_2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c4225421dd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c4225421dd_2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c4225421dd_2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c41e98eae2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c41e98eae2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c41e98eae2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c41e98eae2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c41e98eae2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c41e98eae2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c41e98eae2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c41e98eae2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c4225421dd_5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c4225421dd_5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c4225421dd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c4225421dd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c4225421dd_4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c4225421dd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bd518147cb_0_10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bd518147cb_0_10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c4225421dd_4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c4225421dd_4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c4225421dd_4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c4225421dd_4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c4225421dd_4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c4225421dd_4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c4225421dd_4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c4225421dd_4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c4225421dd_4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c4225421dd_4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 name="Google Shape;11;p2"/>
          <p:cNvCxnSpPr/>
          <p:nvPr/>
        </p:nvCxnSpPr>
        <p:spPr>
          <a:xfrm>
            <a:off x="641934" y="3597500"/>
            <a:ext cx="3903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12;p2"/>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a:endParaRPr/>
          </a:p>
        </p:txBody>
      </p:sp>
      <p:sp>
        <p:nvSpPr>
          <p:cNvPr id="13" name="Google Shape;13;p2"/>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w="28575" cap="flat" cmpd="sng">
            <a:solidFill>
              <a:schemeClr val="lt2"/>
            </a:solidFill>
            <a:prstDash val="solid"/>
            <a:round/>
            <a:headEnd type="none" w="sm" len="sm"/>
            <a:tailEnd type="none" w="sm" len="sm"/>
          </a:ln>
        </p:spPr>
      </p:cxnSp>
      <p:sp>
        <p:nvSpPr>
          <p:cNvPr id="17" name="Google Shape;17;p3"/>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a:endParaRPr/>
          </a:p>
        </p:txBody>
      </p:sp>
      <p:sp>
        <p:nvSpPr>
          <p:cNvPr id="38" name="Google Shape;38;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686400" cy="0"/>
          </a:xfrm>
          <a:prstGeom prst="straightConnector1">
            <a:avLst/>
          </a:prstGeom>
          <a:noFill/>
          <a:ln w="19050" cap="flat" cmpd="sng">
            <a:solidFill>
              <a:schemeClr val="lt2"/>
            </a:solidFill>
            <a:prstDash val="solid"/>
            <a:round/>
            <a:headEnd type="none" w="sm" len="sm"/>
            <a:tailEnd type="none" w="sm" len="sm"/>
          </a:ln>
        </p:spPr>
      </p:cxnSp>
      <p:sp>
        <p:nvSpPr>
          <p:cNvPr id="42" name="Google Shape;42;p9"/>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a:endParaRPr/>
          </a:p>
        </p:txBody>
      </p:sp>
      <p:sp>
        <p:nvSpPr>
          <p:cNvPr id="43" name="Google Shape;43;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accent1"/>
              </a:buClr>
              <a:buSzPts val="1800"/>
              <a:buChar char="●"/>
              <a:defRPr>
                <a:solidFill>
                  <a:schemeClr val="accent1"/>
                </a:solidFill>
              </a:defRPr>
            </a:lvl1pPr>
            <a:lvl2pPr marL="914400" lvl="1" indent="-317500">
              <a:spcBef>
                <a:spcPts val="0"/>
              </a:spcBef>
              <a:spcAft>
                <a:spcPts val="0"/>
              </a:spcAft>
              <a:buClr>
                <a:schemeClr val="accent1"/>
              </a:buClr>
              <a:buSzPts val="1400"/>
              <a:buChar char="○"/>
              <a:defRPr>
                <a:solidFill>
                  <a:schemeClr val="accent1"/>
                </a:solidFill>
              </a:defRPr>
            </a:lvl2pPr>
            <a:lvl3pPr marL="1371600" lvl="2" indent="-317500">
              <a:spcBef>
                <a:spcPts val="0"/>
              </a:spcBef>
              <a:spcAft>
                <a:spcPts val="0"/>
              </a:spcAft>
              <a:buClr>
                <a:schemeClr val="accent1"/>
              </a:buClr>
              <a:buSzPts val="1400"/>
              <a:buChar char="■"/>
              <a:defRPr>
                <a:solidFill>
                  <a:schemeClr val="accent1"/>
                </a:solidFill>
              </a:defRPr>
            </a:lvl3pPr>
            <a:lvl4pPr marL="1828800" lvl="3" indent="-317500">
              <a:spcBef>
                <a:spcPts val="0"/>
              </a:spcBef>
              <a:spcAft>
                <a:spcPts val="0"/>
              </a:spcAft>
              <a:buClr>
                <a:schemeClr val="accent1"/>
              </a:buClr>
              <a:buSzPts val="1400"/>
              <a:buChar char="●"/>
              <a:defRPr>
                <a:solidFill>
                  <a:schemeClr val="accent1"/>
                </a:solidFill>
              </a:defRPr>
            </a:lvl4pPr>
            <a:lvl5pPr marL="2286000" lvl="4" indent="-317500">
              <a:spcBef>
                <a:spcPts val="0"/>
              </a:spcBef>
              <a:spcAft>
                <a:spcPts val="0"/>
              </a:spcAft>
              <a:buClr>
                <a:schemeClr val="accent1"/>
              </a:buClr>
              <a:buSzPts val="1400"/>
              <a:buChar char="○"/>
              <a:defRPr>
                <a:solidFill>
                  <a:schemeClr val="accent1"/>
                </a:solidFill>
              </a:defRPr>
            </a:lvl5pPr>
            <a:lvl6pPr marL="2743200" lvl="5" indent="-317500">
              <a:spcBef>
                <a:spcPts val="0"/>
              </a:spcBef>
              <a:spcAft>
                <a:spcPts val="0"/>
              </a:spcAft>
              <a:buClr>
                <a:schemeClr val="accent1"/>
              </a:buClr>
              <a:buSzPts val="1400"/>
              <a:buChar char="■"/>
              <a:defRPr>
                <a:solidFill>
                  <a:schemeClr val="accent1"/>
                </a:solidFill>
              </a:defRPr>
            </a:lvl6pPr>
            <a:lvl7pPr marL="3200400" lvl="6" indent="-317500">
              <a:spcBef>
                <a:spcPts val="0"/>
              </a:spcBef>
              <a:spcAft>
                <a:spcPts val="0"/>
              </a:spcAft>
              <a:buClr>
                <a:schemeClr val="accent1"/>
              </a:buClr>
              <a:buSzPts val="1400"/>
              <a:buChar char="●"/>
              <a:defRPr>
                <a:solidFill>
                  <a:schemeClr val="accent1"/>
                </a:solidFill>
              </a:defRPr>
            </a:lvl7pPr>
            <a:lvl8pPr marL="3657600" lvl="7" indent="-317500">
              <a:spcBef>
                <a:spcPts val="0"/>
              </a:spcBef>
              <a:spcAft>
                <a:spcPts val="0"/>
              </a:spcAft>
              <a:buClr>
                <a:schemeClr val="accent1"/>
              </a:buClr>
              <a:buSzPts val="1400"/>
              <a:buChar char="○"/>
              <a:defRPr>
                <a:solidFill>
                  <a:schemeClr val="accent1"/>
                </a:solidFill>
              </a:defRPr>
            </a:lvl8pPr>
            <a:lvl9pPr marL="4114800" lvl="8" indent="-317500">
              <a:spcBef>
                <a:spcPts val="0"/>
              </a:spcBef>
              <a:spcAft>
                <a:spcPts val="0"/>
              </a:spcAft>
              <a:buClr>
                <a:schemeClr val="accent1"/>
              </a:buClr>
              <a:buSzPts val="1400"/>
              <a:buChar char="■"/>
              <a:defRPr>
                <a:solidFill>
                  <a:schemeClr val="accent1"/>
                </a:solidFill>
              </a:defRPr>
            </a:lvl9pPr>
          </a:lstStyle>
          <a:p>
            <a:endParaRPr/>
          </a:p>
        </p:txBody>
      </p:sp>
      <p:sp>
        <p:nvSpPr>
          <p:cNvPr id="45" name="Google Shape;4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8" name="Google Shape;48;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039650"/>
            <a:ext cx="8520600" cy="2106300"/>
          </a:xfrm>
          <a:prstGeom prst="rect">
            <a:avLst/>
          </a:prstGeom>
        </p:spPr>
        <p:txBody>
          <a:bodyPr spcFirstLastPara="1" wrap="square" lIns="91425" tIns="91425" rIns="91425" bIns="91425" anchor="b"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perback">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132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311700" y="1171600"/>
            <a:ext cx="8520600" cy="3397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237800" y="310400"/>
            <a:ext cx="8520600" cy="838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Senior Project Design Review</a:t>
            </a:r>
            <a:endParaRPr/>
          </a:p>
        </p:txBody>
      </p:sp>
      <p:sp>
        <p:nvSpPr>
          <p:cNvPr id="60" name="Google Shape;60;p13"/>
          <p:cNvSpPr txBox="1">
            <a:spLocks noGrp="1"/>
          </p:cNvSpPr>
          <p:nvPr>
            <p:ph type="subTitle" idx="1"/>
          </p:nvPr>
        </p:nvSpPr>
        <p:spPr>
          <a:xfrm>
            <a:off x="311700" y="2504625"/>
            <a:ext cx="8520600" cy="2245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lt1"/>
                </a:solidFill>
              </a:rPr>
              <a:t>Project Name: Adjustable Arm Prosthetic (AAP)</a:t>
            </a:r>
            <a:endParaRPr>
              <a:solidFill>
                <a:schemeClr val="lt1"/>
              </a:solidFill>
            </a:endParaRPr>
          </a:p>
          <a:p>
            <a:pPr marL="0" lvl="0" indent="0" algn="l" rtl="0">
              <a:spcBef>
                <a:spcPts val="0"/>
              </a:spcBef>
              <a:spcAft>
                <a:spcPts val="0"/>
              </a:spcAft>
              <a:buNone/>
            </a:pPr>
            <a:endParaRPr>
              <a:solidFill>
                <a:schemeClr val="lt1"/>
              </a:solidFill>
            </a:endParaRPr>
          </a:p>
          <a:p>
            <a:pPr marL="0" lvl="0" indent="0" algn="l" rtl="0">
              <a:spcBef>
                <a:spcPts val="0"/>
              </a:spcBef>
              <a:spcAft>
                <a:spcPts val="0"/>
              </a:spcAft>
              <a:buNone/>
            </a:pPr>
            <a:r>
              <a:rPr lang="en" sz="2000">
                <a:solidFill>
                  <a:schemeClr val="lt1"/>
                </a:solidFill>
              </a:rPr>
              <a:t>Team: Basel Abumailish, James Briscoe, Eric Carlos</a:t>
            </a:r>
            <a:endParaRPr sz="2000">
              <a:solidFill>
                <a:schemeClr val="lt1"/>
              </a:solidFill>
            </a:endParaRPr>
          </a:p>
          <a:p>
            <a:pPr marL="457200" lvl="0" indent="-355600" algn="l" rtl="0">
              <a:spcBef>
                <a:spcPts val="0"/>
              </a:spcBef>
              <a:spcAft>
                <a:spcPts val="0"/>
              </a:spcAft>
              <a:buClr>
                <a:schemeClr val="lt1"/>
              </a:buClr>
              <a:buSzPts val="2000"/>
              <a:buChar char="●"/>
            </a:pPr>
            <a:r>
              <a:rPr lang="en" sz="2000">
                <a:solidFill>
                  <a:schemeClr val="lt1"/>
                </a:solidFill>
              </a:rPr>
              <a:t>Course(EE490/BIO490AL) SCIT</a:t>
            </a:r>
            <a:endParaRPr sz="2000">
              <a:solidFill>
                <a:schemeClr val="lt1"/>
              </a:solidFill>
            </a:endParaRPr>
          </a:p>
          <a:p>
            <a:pPr marL="0" lvl="0" indent="0" algn="l" rtl="0">
              <a:spcBef>
                <a:spcPts val="0"/>
              </a:spcBef>
              <a:spcAft>
                <a:spcPts val="0"/>
              </a:spcAft>
              <a:buNone/>
            </a:pPr>
            <a:endParaRPr sz="20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385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Problem/Motivation </a:t>
            </a:r>
            <a:endParaRPr/>
          </a:p>
        </p:txBody>
      </p:sp>
      <p:sp>
        <p:nvSpPr>
          <p:cNvPr id="66" name="Google Shape;66;p14"/>
          <p:cNvSpPr txBox="1">
            <a:spLocks noGrp="1"/>
          </p:cNvSpPr>
          <p:nvPr>
            <p:ph type="body" idx="1"/>
          </p:nvPr>
        </p:nvSpPr>
        <p:spPr>
          <a:xfrm>
            <a:off x="483475" y="1057075"/>
            <a:ext cx="7030500" cy="3746400"/>
          </a:xfrm>
          <a:prstGeom prst="rect">
            <a:avLst/>
          </a:prstGeom>
        </p:spPr>
        <p:txBody>
          <a:bodyPr spcFirstLastPara="1" wrap="square" lIns="91425" tIns="91425" rIns="91425" bIns="91425" anchor="t" anchorCtr="0">
            <a:normAutofit fontScale="25000" lnSpcReduction="20000"/>
          </a:bodyPr>
          <a:lstStyle/>
          <a:p>
            <a:pPr marL="0" lvl="0" indent="0" algn="l" rtl="0">
              <a:lnSpc>
                <a:spcPct val="200000"/>
              </a:lnSpc>
              <a:spcBef>
                <a:spcPts val="1200"/>
              </a:spcBef>
              <a:spcAft>
                <a:spcPts val="0"/>
              </a:spcAft>
              <a:buClr>
                <a:schemeClr val="dk1"/>
              </a:buClr>
              <a:buSzPts val="275"/>
              <a:buFont typeface="Arial"/>
              <a:buNone/>
            </a:pPr>
            <a:r>
              <a:rPr lang="en" sz="4967">
                <a:latin typeface="Times New Roman"/>
                <a:ea typeface="Times New Roman"/>
                <a:cs typeface="Times New Roman"/>
                <a:sym typeface="Times New Roman"/>
              </a:rPr>
              <a:t>Upper-limb amputees often face limited access to prosthetic devices that are affordable, adjustable, and functional. Many existing prosthetics are either too expensive, lack adaptability as the user grows or changes, or provide limited hand articulation. This can reduce usability and make everyday tasks difficult or uncomfortable.</a:t>
            </a:r>
            <a:endParaRPr sz="4967">
              <a:latin typeface="Times New Roman"/>
              <a:ea typeface="Times New Roman"/>
              <a:cs typeface="Times New Roman"/>
              <a:sym typeface="Times New Roman"/>
            </a:endParaRPr>
          </a:p>
          <a:p>
            <a:pPr marL="0" lvl="0" indent="0" algn="l" rtl="0">
              <a:lnSpc>
                <a:spcPct val="200000"/>
              </a:lnSpc>
              <a:spcBef>
                <a:spcPts val="1200"/>
              </a:spcBef>
              <a:spcAft>
                <a:spcPts val="0"/>
              </a:spcAft>
              <a:buNone/>
            </a:pPr>
            <a:r>
              <a:rPr lang="en" sz="4967">
                <a:latin typeface="Times New Roman"/>
                <a:ea typeface="Times New Roman"/>
                <a:cs typeface="Times New Roman"/>
                <a:sym typeface="Times New Roman"/>
              </a:rPr>
              <a:t>Our project aims to address these limitations by designing a low-cost, adjustable arm prosthetic that provides functional hand motion while allowing for mechanical and electrical customization.</a:t>
            </a:r>
            <a:endParaRPr sz="4967">
              <a:latin typeface="Times New Roman"/>
              <a:ea typeface="Times New Roman"/>
              <a:cs typeface="Times New Roman"/>
              <a:sym typeface="Times New Roman"/>
            </a:endParaRPr>
          </a:p>
          <a:p>
            <a:pPr marL="0" lvl="0" indent="0" algn="l" rtl="0">
              <a:lnSpc>
                <a:spcPct val="200000"/>
              </a:lnSpc>
              <a:spcBef>
                <a:spcPts val="1200"/>
              </a:spcBef>
              <a:spcAft>
                <a:spcPts val="0"/>
              </a:spcAft>
              <a:buNone/>
            </a:pPr>
            <a:r>
              <a:rPr lang="en" sz="4967">
                <a:latin typeface="Times New Roman"/>
                <a:ea typeface="Times New Roman"/>
                <a:cs typeface="Times New Roman"/>
                <a:sym typeface="Times New Roman"/>
              </a:rPr>
              <a:t>The motivation behind this project is to create a prosthetic system that balances functionality, affordability, and adaptability. By using modular mechanical components, internal cable routing, and accessible electronics, the design focuses on improving durability, comfort, and ease of use while remaining feasible for rapid prototyping and iteration.</a:t>
            </a:r>
            <a:endParaRPr sz="4967">
              <a:latin typeface="Times New Roman"/>
              <a:ea typeface="Times New Roman"/>
              <a:cs typeface="Times New Roman"/>
              <a:sym typeface="Times New Roman"/>
            </a:endParaRPr>
          </a:p>
          <a:p>
            <a:pPr marL="0" lvl="0" indent="0" algn="l" rtl="0">
              <a:spcBef>
                <a:spcPts val="1200"/>
              </a:spcBef>
              <a:spcAft>
                <a:spcPts val="0"/>
              </a:spcAft>
              <a:buNone/>
            </a:pPr>
            <a:endParaRPr sz="1100">
              <a:solidFill>
                <a:schemeClr val="dk1"/>
              </a:solidFill>
              <a:latin typeface="Times New Roman"/>
              <a:ea typeface="Times New Roman"/>
              <a:cs typeface="Times New Roman"/>
              <a:sym typeface="Times New Roman"/>
            </a:endParaRPr>
          </a:p>
          <a:p>
            <a:pPr marL="0" lvl="0" indent="0" algn="l" rtl="0">
              <a:spcBef>
                <a:spcPts val="1200"/>
              </a:spcBef>
              <a:spcAft>
                <a:spcPts val="0"/>
              </a:spcAft>
              <a:buClr>
                <a:schemeClr val="dk1"/>
              </a:buClr>
              <a:buSzPct val="100000"/>
              <a:buFont typeface="Arial"/>
              <a:buNone/>
            </a:pPr>
            <a:endParaRPr sz="110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6666"/>
              <a:buFont typeface="Arial"/>
              <a:buNone/>
            </a:pPr>
            <a:r>
              <a:rPr lang="en"/>
              <a:t>Problem/Motivation </a:t>
            </a:r>
            <a:endParaRPr/>
          </a:p>
          <a:p>
            <a:pPr marL="0" lvl="0" indent="0" algn="l" rtl="0">
              <a:spcBef>
                <a:spcPts val="0"/>
              </a:spcBef>
              <a:spcAft>
                <a:spcPts val="0"/>
              </a:spcAft>
              <a:buNone/>
            </a:pPr>
            <a:endParaRPr/>
          </a:p>
        </p:txBody>
      </p:sp>
      <p:sp>
        <p:nvSpPr>
          <p:cNvPr id="72" name="Google Shape;72;p15"/>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 sz="1200" b="1">
                <a:solidFill>
                  <a:schemeClr val="dk1"/>
                </a:solidFill>
                <a:latin typeface="Times New Roman"/>
                <a:ea typeface="Times New Roman"/>
                <a:cs typeface="Times New Roman"/>
                <a:sym typeface="Times New Roman"/>
              </a:rPr>
              <a:t>Requirements and Constraints</a:t>
            </a:r>
            <a:endParaRPr sz="1200" b="1">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Adjustable forearm length to accommodate different users </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Functional finger articulation with internal cable routing </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Safe and reliable actuator control</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Compact integration of electronics within the forearm</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Budget, time, and manufacturability constraints</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Use of readily available components and 3D-printed parts</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chemeClr val="dk1"/>
                </a:solidFill>
                <a:latin typeface="Times New Roman"/>
                <a:ea typeface="Times New Roman"/>
                <a:cs typeface="Times New Roman"/>
                <a:sym typeface="Times New Roman"/>
              </a:rPr>
              <a:t>System Architecture </a:t>
            </a:r>
            <a:endParaRPr sz="1200" b="1">
              <a:solidFill>
                <a:schemeClr val="dk1"/>
              </a:solidFill>
              <a:latin typeface="Times New Roman"/>
              <a:ea typeface="Times New Roman"/>
              <a:cs typeface="Times New Roman"/>
              <a:sym typeface="Times New Roman"/>
            </a:endParaRPr>
          </a:p>
          <a:p>
            <a:pPr marL="457200" lvl="0" indent="-311150" algn="l" rtl="0">
              <a:spcBef>
                <a:spcPts val="1200"/>
              </a:spcBef>
              <a:spcAft>
                <a:spcPts val="0"/>
              </a:spcAft>
              <a:buClr>
                <a:schemeClr val="dk1"/>
              </a:buClr>
              <a:buSzPts val="1300"/>
              <a:buFont typeface="Times New Roman"/>
              <a:buChar char="●"/>
            </a:pPr>
            <a:r>
              <a:rPr lang="en" sz="1200">
                <a:solidFill>
                  <a:schemeClr val="dk1"/>
                </a:solidFill>
                <a:latin typeface="Times New Roman"/>
                <a:ea typeface="Times New Roman"/>
                <a:cs typeface="Times New Roman"/>
                <a:sym typeface="Times New Roman"/>
              </a:rPr>
              <a:t>Biomechanical subsystem: Fingers, palm, adjustable forearm, self-lacing mechanism</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Electrical subsystem: Microcontroller, motor driver, actuators, power supply</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Char char="●"/>
            </a:pPr>
            <a:r>
              <a:rPr lang="en" sz="1200">
                <a:solidFill>
                  <a:schemeClr val="dk1"/>
                </a:solidFill>
                <a:latin typeface="Times New Roman"/>
                <a:ea typeface="Times New Roman"/>
                <a:cs typeface="Times New Roman"/>
                <a:sym typeface="Times New Roman"/>
              </a:rPr>
              <a:t>Firmware: Motor control logic, safety expansion, and actuator coordination</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Hand Anatomy and Design Relevance </a:t>
            </a:r>
            <a:endParaRPr/>
          </a:p>
        </p:txBody>
      </p:sp>
      <p:sp>
        <p:nvSpPr>
          <p:cNvPr id="78" name="Google Shape;78;p16"/>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dirty="0">
                <a:solidFill>
                  <a:schemeClr val="dk1"/>
                </a:solidFill>
                <a:latin typeface="Times New Roman"/>
                <a:ea typeface="Times New Roman"/>
                <a:cs typeface="Times New Roman"/>
                <a:sym typeface="Times New Roman"/>
              </a:rPr>
              <a:t>Key Structure Considered</a:t>
            </a:r>
            <a:endParaRPr sz="1200" b="1" dirty="0">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The human hand contains multiple joints that enable bending and gripping</a:t>
            </a:r>
            <a:endParaRPr sz="1200" dirty="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Knuckle placement guides where mechanical joints are positioned </a:t>
            </a:r>
            <a:endParaRPr sz="1200" dirty="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The palm provides structural support during grasping</a:t>
            </a:r>
            <a:endParaRPr sz="1200" dirty="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Thumb positioning is critical for holding objects </a:t>
            </a:r>
            <a:endParaRPr sz="1200" dirty="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dirty="0">
                <a:solidFill>
                  <a:schemeClr val="dk1"/>
                </a:solidFill>
                <a:latin typeface="Times New Roman"/>
                <a:ea typeface="Times New Roman"/>
                <a:cs typeface="Times New Roman"/>
                <a:sym typeface="Times New Roman"/>
              </a:rPr>
              <a:t>Design Impact </a:t>
            </a:r>
            <a:endParaRPr sz="1200" b="1" dirty="0">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Mechanical joints are aligned with natural finger joints </a:t>
            </a:r>
            <a:endParaRPr sz="1200" dirty="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The palm is reinforced to handle gripping forces</a:t>
            </a:r>
            <a:endParaRPr sz="1200" dirty="0">
              <a:solidFill>
                <a:schemeClr val="dk1"/>
              </a:solidFill>
              <a:highlight>
                <a:srgbClr val="FF0000"/>
              </a:highlight>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The design supports realistic hand movement rather than rigid motion</a:t>
            </a:r>
            <a:endParaRPr sz="1200" dirty="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dirty="0">
                <a:solidFill>
                  <a:schemeClr val="dk1"/>
                </a:solidFill>
                <a:latin typeface="Times New Roman"/>
                <a:ea typeface="Times New Roman"/>
                <a:cs typeface="Times New Roman"/>
                <a:sym typeface="Times New Roman"/>
              </a:rPr>
              <a:t>Engineering Goal</a:t>
            </a:r>
            <a:endParaRPr sz="1200" b="1" dirty="0">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Replica</a:t>
            </a:r>
            <a:r>
              <a:rPr lang="en" sz="1200" dirty="0">
                <a:latin typeface="Times New Roman"/>
                <a:ea typeface="Times New Roman"/>
                <a:cs typeface="Times New Roman"/>
                <a:sym typeface="Times New Roman"/>
              </a:rPr>
              <a:t>t</a:t>
            </a:r>
            <a:r>
              <a:rPr lang="en" sz="1200" dirty="0">
                <a:solidFill>
                  <a:schemeClr val="dk1"/>
                </a:solidFill>
                <a:latin typeface="Times New Roman"/>
                <a:ea typeface="Times New Roman"/>
                <a:cs typeface="Times New Roman"/>
                <a:sym typeface="Times New Roman"/>
              </a:rPr>
              <a:t>e essential hand structure to support functional movement</a:t>
            </a:r>
            <a:endParaRPr sz="1200" dirty="0">
              <a:solidFill>
                <a:schemeClr val="dk1"/>
              </a:solidFill>
              <a:latin typeface="Times New Roman"/>
              <a:ea typeface="Times New Roman"/>
              <a:cs typeface="Times New Roman"/>
              <a:sym typeface="Times New Roman"/>
            </a:endParaRPr>
          </a:p>
          <a:p>
            <a:pPr marL="457200" lvl="0" indent="0" algn="l" rtl="0">
              <a:spcBef>
                <a:spcPts val="1200"/>
              </a:spcBef>
              <a:spcAft>
                <a:spcPts val="1200"/>
              </a:spcAft>
              <a:buNone/>
            </a:pPr>
            <a:endParaRPr sz="1200" dirty="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Physiological Principles </a:t>
            </a:r>
            <a:endParaRPr/>
          </a:p>
        </p:txBody>
      </p:sp>
      <p:sp>
        <p:nvSpPr>
          <p:cNvPr id="84" name="Google Shape;84;p17"/>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Clr>
                <a:schemeClr val="dk1"/>
              </a:buClr>
              <a:buSzPts val="1100"/>
              <a:buFont typeface="Arial"/>
              <a:buNone/>
            </a:pPr>
            <a:r>
              <a:rPr lang="en" sz="1200" b="1" dirty="0">
                <a:solidFill>
                  <a:schemeClr val="dk1"/>
                </a:solidFill>
                <a:latin typeface="Times New Roman"/>
                <a:ea typeface="Times New Roman"/>
                <a:cs typeface="Times New Roman"/>
                <a:sym typeface="Times New Roman"/>
              </a:rPr>
              <a:t>How the Hand Functions</a:t>
            </a:r>
            <a:endParaRPr sz="1200" b="1" dirty="0">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Muscles generate force to move the fingers</a:t>
            </a:r>
            <a:endParaRPr sz="1200" dirty="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Tendons transfer that force to create motion</a:t>
            </a:r>
            <a:endParaRPr sz="1200" dirty="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Multiple fingers must move in coordination </a:t>
            </a:r>
            <a:endParaRPr sz="1200" dirty="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The body limits joint movement to prevent injury </a:t>
            </a:r>
            <a:endParaRPr sz="1200" dirty="0">
              <a:solidFill>
                <a:schemeClr val="dk1"/>
              </a:solidFill>
              <a:latin typeface="Times New Roman"/>
              <a:ea typeface="Times New Roman"/>
              <a:cs typeface="Times New Roman"/>
              <a:sym typeface="Times New Roman"/>
            </a:endParaRPr>
          </a:p>
          <a:p>
            <a:pPr marL="0" lvl="0" indent="0" algn="l" rtl="0">
              <a:spcBef>
                <a:spcPts val="1200"/>
              </a:spcBef>
              <a:spcAft>
                <a:spcPts val="0"/>
              </a:spcAft>
              <a:buClr>
                <a:schemeClr val="dk1"/>
              </a:buClr>
              <a:buSzPts val="1100"/>
              <a:buFont typeface="Arial"/>
              <a:buNone/>
            </a:pPr>
            <a:r>
              <a:rPr lang="en" sz="1200" b="1" dirty="0">
                <a:solidFill>
                  <a:schemeClr val="dk1"/>
                </a:solidFill>
                <a:latin typeface="Times New Roman"/>
                <a:ea typeface="Times New Roman"/>
                <a:cs typeface="Times New Roman"/>
                <a:sym typeface="Times New Roman"/>
              </a:rPr>
              <a:t>How it is Implemented</a:t>
            </a:r>
            <a:endParaRPr sz="1200" b="1" dirty="0">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Actuators replace muscle force </a:t>
            </a:r>
            <a:endParaRPr sz="1200" dirty="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Internal cables mimic tendon behavior </a:t>
            </a:r>
            <a:endParaRPr sz="1200" dirty="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Firmware enables coordinated finger control </a:t>
            </a:r>
            <a:endParaRPr sz="1200" dirty="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Mechanical stops help prevent overextension </a:t>
            </a:r>
            <a:endParaRPr lang="en-US" sz="1200" dirty="0">
              <a:solidFill>
                <a:schemeClr val="dk1"/>
              </a:solidFill>
              <a:highlight>
                <a:srgbClr val="980000"/>
              </a:highlight>
              <a:latin typeface="Times New Roman"/>
              <a:ea typeface="Times New Roman"/>
              <a:cs typeface="Times New Roman"/>
              <a:sym typeface="Times New Roman"/>
            </a:endParaRPr>
          </a:p>
          <a:p>
            <a:pPr marL="0" lvl="0" indent="0" algn="l" rtl="0">
              <a:spcBef>
                <a:spcPts val="1200"/>
              </a:spcBef>
              <a:spcAft>
                <a:spcPts val="0"/>
              </a:spcAft>
              <a:buNone/>
            </a:pPr>
            <a:r>
              <a:rPr lang="en-US" sz="1200" dirty="0">
                <a:solidFill>
                  <a:schemeClr val="dk1"/>
                </a:solidFill>
                <a:latin typeface="Times New Roman"/>
                <a:ea typeface="Times New Roman"/>
                <a:cs typeface="Times New Roman"/>
                <a:sym typeface="Times New Roman"/>
              </a:rPr>
              <a:t>Engineering Goal</a:t>
            </a:r>
          </a:p>
          <a:p>
            <a:pPr marL="457200" lvl="0" indent="-304800" algn="l" rtl="0">
              <a:spcBef>
                <a:spcPts val="1200"/>
              </a:spcBef>
              <a:spcAft>
                <a:spcPts val="0"/>
              </a:spcAft>
              <a:buClr>
                <a:schemeClr val="dk1"/>
              </a:buClr>
              <a:buSzPts val="1200"/>
              <a:buFont typeface="Times New Roman"/>
              <a:buChar char="●"/>
            </a:pPr>
            <a:r>
              <a:rPr lang="en" sz="1200" dirty="0">
                <a:solidFill>
                  <a:schemeClr val="dk1"/>
                </a:solidFill>
                <a:latin typeface="Times New Roman"/>
                <a:ea typeface="Times New Roman"/>
                <a:cs typeface="Times New Roman"/>
                <a:sym typeface="Times New Roman"/>
              </a:rPr>
              <a:t>Convert biological movement principles into safe, controlled mechanical motion </a:t>
            </a:r>
            <a:endParaRPr sz="12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Biology to Engineering</a:t>
            </a:r>
            <a:endParaRPr/>
          </a:p>
        </p:txBody>
      </p:sp>
      <p:sp>
        <p:nvSpPr>
          <p:cNvPr id="90" name="Google Shape;90;p18"/>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1200" dirty="0">
                <a:solidFill>
                  <a:srgbClr val="000000"/>
                </a:solidFill>
                <a:latin typeface="Times New Roman"/>
                <a:ea typeface="Times New Roman"/>
                <a:cs typeface="Times New Roman"/>
                <a:sym typeface="Times New Roman"/>
              </a:rPr>
              <a:t>Flexor Digitorum Profundus</a:t>
            </a:r>
            <a:endParaRPr sz="1200" dirty="0">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dirty="0">
                <a:solidFill>
                  <a:srgbClr val="000000"/>
                </a:solidFill>
                <a:latin typeface="Times New Roman"/>
                <a:ea typeface="Times New Roman"/>
                <a:cs typeface="Times New Roman"/>
                <a:sym typeface="Times New Roman"/>
              </a:rPr>
              <a:t>Tendon that bends the fingertip during gripping</a:t>
            </a:r>
            <a:endParaRPr sz="1200" dirty="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dirty="0">
                <a:solidFill>
                  <a:srgbClr val="000000"/>
                </a:solidFill>
                <a:latin typeface="Times New Roman"/>
                <a:ea typeface="Times New Roman"/>
                <a:cs typeface="Times New Roman"/>
                <a:sym typeface="Times New Roman"/>
              </a:rPr>
              <a:t>Cable system pulls the finger inward to replicate gripping motion</a:t>
            </a:r>
            <a:endParaRPr sz="1200" dirty="0">
              <a:solidFill>
                <a:srgbClr val="000000"/>
              </a:solidFill>
              <a:latin typeface="Times New Roman"/>
              <a:ea typeface="Times New Roman"/>
              <a:cs typeface="Times New Roman"/>
              <a:sym typeface="Times New Roman"/>
            </a:endParaRPr>
          </a:p>
          <a:p>
            <a:pPr marL="0" lvl="0" indent="0" algn="l" rtl="0">
              <a:spcBef>
                <a:spcPts val="1200"/>
              </a:spcBef>
              <a:spcAft>
                <a:spcPts val="0"/>
              </a:spcAft>
              <a:buClr>
                <a:schemeClr val="dk1"/>
              </a:buClr>
              <a:buSzPts val="1100"/>
              <a:buFont typeface="Arial"/>
              <a:buNone/>
            </a:pPr>
            <a:r>
              <a:rPr lang="en" sz="1200" dirty="0">
                <a:solidFill>
                  <a:srgbClr val="000000"/>
                </a:solidFill>
                <a:latin typeface="Times New Roman"/>
                <a:ea typeface="Times New Roman"/>
                <a:cs typeface="Times New Roman"/>
                <a:sym typeface="Times New Roman"/>
              </a:rPr>
              <a:t>Flexor Digitorum Superficialis </a:t>
            </a:r>
            <a:endParaRPr sz="1200" dirty="0">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dirty="0">
                <a:solidFill>
                  <a:srgbClr val="000000"/>
                </a:solidFill>
                <a:latin typeface="Times New Roman"/>
                <a:ea typeface="Times New Roman"/>
                <a:cs typeface="Times New Roman"/>
                <a:sym typeface="Times New Roman"/>
              </a:rPr>
              <a:t>Tendon that bends the finger joints for controlled grasping </a:t>
            </a:r>
            <a:endParaRPr sz="1200" dirty="0">
              <a:solidFill>
                <a:srgbClr val="000000"/>
              </a:solidFill>
              <a:highlight>
                <a:srgbClr val="FF0000"/>
              </a:highlight>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dirty="0">
                <a:solidFill>
                  <a:srgbClr val="000000"/>
                </a:solidFill>
                <a:latin typeface="Times New Roman"/>
                <a:ea typeface="Times New Roman"/>
                <a:cs typeface="Times New Roman"/>
                <a:sym typeface="Times New Roman"/>
              </a:rPr>
              <a:t>Finger joints are designed to allow gradual bending instead of rigid motion </a:t>
            </a:r>
            <a:endParaRPr sz="1200" dirty="0">
              <a:solidFill>
                <a:srgbClr val="000000"/>
              </a:solidFill>
              <a:latin typeface="Times New Roman"/>
              <a:ea typeface="Times New Roman"/>
              <a:cs typeface="Times New Roman"/>
              <a:sym typeface="Times New Roman"/>
            </a:endParaRPr>
          </a:p>
          <a:p>
            <a:pPr marL="0" lvl="0" indent="0" algn="l" rtl="0">
              <a:spcBef>
                <a:spcPts val="1200"/>
              </a:spcBef>
              <a:spcAft>
                <a:spcPts val="0"/>
              </a:spcAft>
              <a:buClr>
                <a:schemeClr val="dk1"/>
              </a:buClr>
              <a:buSzPts val="1100"/>
              <a:buFont typeface="Arial"/>
              <a:buNone/>
            </a:pPr>
            <a:r>
              <a:rPr lang="en" sz="1200" dirty="0">
                <a:solidFill>
                  <a:srgbClr val="000000"/>
                </a:solidFill>
                <a:latin typeface="Times New Roman"/>
                <a:ea typeface="Times New Roman"/>
                <a:cs typeface="Times New Roman"/>
                <a:sym typeface="Times New Roman"/>
              </a:rPr>
              <a:t>Extensor Digitorum </a:t>
            </a:r>
            <a:endParaRPr sz="1200" dirty="0">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dirty="0">
                <a:solidFill>
                  <a:srgbClr val="000000"/>
                </a:solidFill>
                <a:latin typeface="Times New Roman"/>
                <a:ea typeface="Times New Roman"/>
                <a:cs typeface="Times New Roman"/>
                <a:sym typeface="Times New Roman"/>
              </a:rPr>
              <a:t>Tendon responsible for straightening the fingers </a:t>
            </a:r>
            <a:endParaRPr sz="1200" dirty="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dirty="0">
                <a:solidFill>
                  <a:srgbClr val="000000"/>
                </a:solidFill>
                <a:latin typeface="Times New Roman"/>
                <a:ea typeface="Times New Roman"/>
                <a:cs typeface="Times New Roman"/>
                <a:sym typeface="Times New Roman"/>
              </a:rPr>
              <a:t>Motor reversal to allow the prosthetic fingers to reopen </a:t>
            </a:r>
            <a:endParaRPr sz="1200" dirty="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200" dirty="0">
                <a:solidFill>
                  <a:srgbClr val="000000"/>
                </a:solidFill>
                <a:latin typeface="Times New Roman"/>
                <a:ea typeface="Times New Roman"/>
                <a:cs typeface="Times New Roman"/>
                <a:sym typeface="Times New Roman"/>
              </a:rPr>
              <a:t>Design Focus</a:t>
            </a:r>
            <a:endParaRPr sz="1200" dirty="0">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dirty="0">
                <a:solidFill>
                  <a:srgbClr val="000000"/>
                </a:solidFill>
                <a:latin typeface="Times New Roman"/>
                <a:ea typeface="Times New Roman"/>
                <a:cs typeface="Times New Roman"/>
                <a:sym typeface="Times New Roman"/>
              </a:rPr>
              <a:t>Replicate tendon-driven force transmission to produce controlled and natural finger motion</a:t>
            </a:r>
            <a:endParaRPr sz="1200" dirty="0">
              <a:solidFill>
                <a:srgbClr val="000000"/>
              </a:solidFill>
              <a:latin typeface="Times New Roman"/>
              <a:ea typeface="Times New Roman"/>
              <a:cs typeface="Times New Roman"/>
              <a:sym typeface="Times New Roman"/>
            </a:endParaRPr>
          </a:p>
        </p:txBody>
      </p:sp>
      <p:pic>
        <p:nvPicPr>
          <p:cNvPr id="91" name="Google Shape;91;p18"/>
          <p:cNvPicPr preferRelativeResize="0"/>
          <p:nvPr/>
        </p:nvPicPr>
        <p:blipFill>
          <a:blip r:embed="rId3">
            <a:alphaModFix/>
          </a:blip>
          <a:stretch>
            <a:fillRect/>
          </a:stretch>
        </p:blipFill>
        <p:spPr>
          <a:xfrm>
            <a:off x="5154525" y="292850"/>
            <a:ext cx="2745449" cy="2268475"/>
          </a:xfrm>
          <a:prstGeom prst="rect">
            <a:avLst/>
          </a:prstGeom>
          <a:noFill/>
          <a:ln>
            <a:noFill/>
          </a:ln>
        </p:spPr>
      </p:pic>
      <p:pic>
        <p:nvPicPr>
          <p:cNvPr id="92" name="Google Shape;92;p18"/>
          <p:cNvPicPr preferRelativeResize="0"/>
          <p:nvPr/>
        </p:nvPicPr>
        <p:blipFill>
          <a:blip r:embed="rId4">
            <a:alphaModFix/>
          </a:blip>
          <a:stretch>
            <a:fillRect/>
          </a:stretch>
        </p:blipFill>
        <p:spPr>
          <a:xfrm>
            <a:off x="6745352" y="2282827"/>
            <a:ext cx="2136775" cy="2483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Engineering Progress </a:t>
            </a:r>
            <a:endParaRPr/>
          </a:p>
        </p:txBody>
      </p:sp>
      <p:sp>
        <p:nvSpPr>
          <p:cNvPr id="98" name="Google Shape;98;p19"/>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p>
            <a:pPr marL="457200" lvl="0" indent="-304800" algn="l" rtl="0">
              <a:lnSpc>
                <a:spcPct val="150000"/>
              </a:lnSpc>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Finger joint design completed</a:t>
            </a:r>
            <a:endParaRPr sz="1200">
              <a:solidFill>
                <a:srgbClr val="000000"/>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Telescoping rod mechanically verified</a:t>
            </a:r>
            <a:endParaRPr sz="1200">
              <a:solidFill>
                <a:srgbClr val="000000"/>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Palm modeling in progress</a:t>
            </a:r>
            <a:endParaRPr sz="1200">
              <a:solidFill>
                <a:srgbClr val="000000"/>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Bracket design underway</a:t>
            </a:r>
            <a:endParaRPr sz="1200">
              <a:solidFill>
                <a:srgbClr val="000000"/>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Firmware operational in simulation</a:t>
            </a:r>
            <a:endParaRPr sz="1200">
              <a:solidFill>
                <a:srgbClr val="000000"/>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Electronics layout validated</a:t>
            </a:r>
            <a:endParaRPr sz="1200">
              <a:solidFill>
                <a:srgbClr val="000000"/>
              </a:solidFill>
              <a:latin typeface="Times New Roman"/>
              <a:ea typeface="Times New Roman"/>
              <a:cs typeface="Times New Roman"/>
              <a:sym typeface="Times New Roman"/>
            </a:endParaRPr>
          </a:p>
          <a:p>
            <a:pPr marL="457200" lvl="0" indent="-304800" algn="l" rtl="0">
              <a:lnSpc>
                <a:spcPct val="150000"/>
              </a:lnSpc>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Circuit design verified in simulation </a:t>
            </a:r>
            <a:endParaRPr sz="1200">
              <a:solidFill>
                <a:srgbClr val="000000"/>
              </a:solidFill>
              <a:latin typeface="Times New Roman"/>
              <a:ea typeface="Times New Roman"/>
              <a:cs typeface="Times New Roman"/>
              <a:sym typeface="Times New Roman"/>
            </a:endParaRPr>
          </a:p>
          <a:p>
            <a:pPr marL="457200" lvl="0" indent="0" algn="l" rtl="0">
              <a:spcBef>
                <a:spcPts val="1200"/>
              </a:spcBef>
              <a:spcAft>
                <a:spcPts val="120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
        <p:cNvGrpSpPr/>
        <p:nvPr/>
      </p:nvGrpSpPr>
      <p:grpSpPr>
        <a:xfrm>
          <a:off x="0" y="0"/>
          <a:ext cx="0" cy="0"/>
          <a:chOff x="0" y="0"/>
          <a:chExt cx="0" cy="0"/>
        </a:xfrm>
      </p:grpSpPr>
      <p:sp>
        <p:nvSpPr>
          <p:cNvPr id="103" name="Google Shape;103;p20"/>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Circuit Progress</a:t>
            </a:r>
            <a:endParaRPr/>
          </a:p>
        </p:txBody>
      </p:sp>
      <p:sp>
        <p:nvSpPr>
          <p:cNvPr id="104" name="Google Shape;104;p20"/>
          <p:cNvSpPr txBox="1">
            <a:spLocks noGrp="1"/>
          </p:cNvSpPr>
          <p:nvPr>
            <p:ph type="body" idx="1"/>
          </p:nvPr>
        </p:nvSpPr>
        <p:spPr>
          <a:xfrm>
            <a:off x="268000" y="769600"/>
            <a:ext cx="3086700" cy="1219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sz="1200">
              <a:latin typeface="Times New Roman"/>
              <a:ea typeface="Times New Roman"/>
              <a:cs typeface="Times New Roman"/>
              <a:sym typeface="Times New Roman"/>
            </a:endParaRPr>
          </a:p>
          <a:p>
            <a:pPr marL="0" lvl="0" indent="0" algn="l" rtl="0">
              <a:spcBef>
                <a:spcPts val="1200"/>
              </a:spcBef>
              <a:spcAft>
                <a:spcPts val="1200"/>
              </a:spcAft>
              <a:buNone/>
            </a:pPr>
            <a:r>
              <a:rPr lang="en" sz="1200">
                <a:latin typeface="Times New Roman"/>
                <a:ea typeface="Times New Roman"/>
                <a:cs typeface="Times New Roman"/>
                <a:sym typeface="Times New Roman"/>
              </a:rPr>
              <a:t>							</a:t>
            </a:r>
            <a:r>
              <a:rPr lang="en" sz="1200">
                <a:solidFill>
                  <a:schemeClr val="dk1"/>
                </a:solidFill>
                <a:latin typeface="Times New Roman"/>
                <a:ea typeface="Times New Roman"/>
                <a:cs typeface="Times New Roman"/>
                <a:sym typeface="Times New Roman"/>
              </a:rPr>
              <a:t>Circuit Design &amp; Schematic</a:t>
            </a:r>
            <a:r>
              <a:rPr lang="en"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p:txBody>
      </p:sp>
      <p:pic>
        <p:nvPicPr>
          <p:cNvPr id="105" name="Google Shape;105;p20"/>
          <p:cNvPicPr preferRelativeResize="0"/>
          <p:nvPr/>
        </p:nvPicPr>
        <p:blipFill>
          <a:blip r:embed="rId3">
            <a:alphaModFix/>
          </a:blip>
          <a:stretch>
            <a:fillRect/>
          </a:stretch>
        </p:blipFill>
        <p:spPr>
          <a:xfrm>
            <a:off x="169475" y="2336125"/>
            <a:ext cx="4402524" cy="2580075"/>
          </a:xfrm>
          <a:prstGeom prst="rect">
            <a:avLst/>
          </a:prstGeom>
          <a:noFill/>
          <a:ln>
            <a:noFill/>
          </a:ln>
        </p:spPr>
      </p:pic>
      <p:pic>
        <p:nvPicPr>
          <p:cNvPr id="106" name="Google Shape;106;p20"/>
          <p:cNvPicPr preferRelativeResize="0"/>
          <p:nvPr/>
        </p:nvPicPr>
        <p:blipFill>
          <a:blip r:embed="rId4">
            <a:alphaModFix/>
          </a:blip>
          <a:stretch>
            <a:fillRect/>
          </a:stretch>
        </p:blipFill>
        <p:spPr>
          <a:xfrm>
            <a:off x="5673151" y="1881175"/>
            <a:ext cx="3291050" cy="3035025"/>
          </a:xfrm>
          <a:prstGeom prst="rect">
            <a:avLst/>
          </a:prstGeom>
          <a:noFill/>
          <a:ln>
            <a:noFill/>
          </a:ln>
        </p:spPr>
      </p:pic>
      <p:pic>
        <p:nvPicPr>
          <p:cNvPr id="107" name="Google Shape;107;p20"/>
          <p:cNvPicPr preferRelativeResize="0"/>
          <p:nvPr/>
        </p:nvPicPr>
        <p:blipFill>
          <a:blip r:embed="rId5">
            <a:alphaModFix/>
          </a:blip>
          <a:stretch>
            <a:fillRect/>
          </a:stretch>
        </p:blipFill>
        <p:spPr>
          <a:xfrm>
            <a:off x="3134200" y="82550"/>
            <a:ext cx="2593100" cy="2660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6666"/>
              <a:buFont typeface="Arial"/>
              <a:buNone/>
            </a:pPr>
            <a:r>
              <a:rPr lang="en"/>
              <a:t>Firmware / Software Progress</a:t>
            </a:r>
            <a:endParaRPr/>
          </a:p>
          <a:p>
            <a:pPr marL="0" lvl="0" indent="0" algn="l" rtl="0">
              <a:spcBef>
                <a:spcPts val="0"/>
              </a:spcBef>
              <a:spcAft>
                <a:spcPts val="0"/>
              </a:spcAft>
              <a:buNone/>
            </a:pPr>
            <a:endParaRPr/>
          </a:p>
        </p:txBody>
      </p:sp>
      <p:sp>
        <p:nvSpPr>
          <p:cNvPr id="113" name="Google Shape;113;p21"/>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fontScale="25000" lnSpcReduction="20000"/>
          </a:bodyPr>
          <a:lstStyle/>
          <a:p>
            <a:pPr marL="0" lvl="0" indent="0" algn="l" rtl="0">
              <a:spcBef>
                <a:spcPts val="0"/>
              </a:spcBef>
              <a:spcAft>
                <a:spcPts val="0"/>
              </a:spcAft>
              <a:buNone/>
            </a:pPr>
            <a:r>
              <a:rPr lang="en" sz="4850">
                <a:solidFill>
                  <a:schemeClr val="dk1"/>
                </a:solidFill>
                <a:latin typeface="Times New Roman"/>
                <a:ea typeface="Times New Roman"/>
                <a:cs typeface="Times New Roman"/>
                <a:sym typeface="Times New Roman"/>
              </a:rPr>
              <a:t>Current Status</a:t>
            </a:r>
            <a:endParaRPr sz="4850">
              <a:solidFill>
                <a:schemeClr val="dk1"/>
              </a:solidFill>
              <a:latin typeface="Times New Roman"/>
              <a:ea typeface="Times New Roman"/>
              <a:cs typeface="Times New Roman"/>
              <a:sym typeface="Times New Roman"/>
            </a:endParaRPr>
          </a:p>
          <a:p>
            <a:pPr marL="457200" lvl="0" indent="-305593" algn="l" rtl="0">
              <a:spcBef>
                <a:spcPts val="1200"/>
              </a:spcBef>
              <a:spcAft>
                <a:spcPts val="0"/>
              </a:spcAft>
              <a:buClr>
                <a:schemeClr val="dk1"/>
              </a:buClr>
              <a:buSzPct val="100000"/>
              <a:buFont typeface="Times New Roman"/>
              <a:buChar char="●"/>
            </a:pPr>
            <a:r>
              <a:rPr lang="en" sz="4850">
                <a:solidFill>
                  <a:schemeClr val="dk1"/>
                </a:solidFill>
                <a:latin typeface="Times New Roman"/>
                <a:ea typeface="Times New Roman"/>
                <a:cs typeface="Times New Roman"/>
                <a:sym typeface="Times New Roman"/>
              </a:rPr>
              <a:t>Base firmware has been developed to control motors and actuators</a:t>
            </a:r>
            <a:endParaRPr sz="4850">
              <a:solidFill>
                <a:schemeClr val="dk1"/>
              </a:solidFill>
              <a:latin typeface="Times New Roman"/>
              <a:ea typeface="Times New Roman"/>
              <a:cs typeface="Times New Roman"/>
              <a:sym typeface="Times New Roman"/>
            </a:endParaRPr>
          </a:p>
          <a:p>
            <a:pPr marL="457200" lvl="0" indent="-305593" algn="l" rtl="0">
              <a:spcBef>
                <a:spcPts val="0"/>
              </a:spcBef>
              <a:spcAft>
                <a:spcPts val="0"/>
              </a:spcAft>
              <a:buClr>
                <a:schemeClr val="dk1"/>
              </a:buClr>
              <a:buSzPct val="100000"/>
              <a:buFont typeface="Times New Roman"/>
              <a:buChar char="●"/>
            </a:pPr>
            <a:r>
              <a:rPr lang="en" sz="4850">
                <a:solidFill>
                  <a:schemeClr val="dk1"/>
                </a:solidFill>
                <a:latin typeface="Times New Roman"/>
                <a:ea typeface="Times New Roman"/>
                <a:cs typeface="Times New Roman"/>
                <a:sym typeface="Times New Roman"/>
              </a:rPr>
              <a:t>Code has been tested using Tinkercad to verify basic functionality and </a:t>
            </a:r>
            <a:r>
              <a:rPr lang="en" sz="4850">
                <a:latin typeface="Times New Roman"/>
                <a:ea typeface="Times New Roman"/>
                <a:cs typeface="Times New Roman"/>
                <a:sym typeface="Times New Roman"/>
              </a:rPr>
              <a:t>verified</a:t>
            </a:r>
            <a:r>
              <a:rPr lang="en" sz="4850">
                <a:solidFill>
                  <a:schemeClr val="dk1"/>
                </a:solidFill>
                <a:latin typeface="Times New Roman"/>
                <a:ea typeface="Times New Roman"/>
                <a:cs typeface="Times New Roman"/>
                <a:sym typeface="Times New Roman"/>
              </a:rPr>
              <a:t> by</a:t>
            </a:r>
            <a:r>
              <a:rPr lang="en" sz="4850">
                <a:latin typeface="Times New Roman"/>
                <a:ea typeface="Times New Roman"/>
                <a:cs typeface="Times New Roman"/>
                <a:sym typeface="Times New Roman"/>
              </a:rPr>
              <a:t> MR.Lin </a:t>
            </a:r>
            <a:endParaRPr sz="4850">
              <a:solidFill>
                <a:schemeClr val="dk1"/>
              </a:solidFill>
              <a:latin typeface="Times New Roman"/>
              <a:ea typeface="Times New Roman"/>
              <a:cs typeface="Times New Roman"/>
              <a:sym typeface="Times New Roman"/>
            </a:endParaRPr>
          </a:p>
          <a:p>
            <a:pPr marL="457200" lvl="0" indent="-305593" algn="l" rtl="0">
              <a:spcBef>
                <a:spcPts val="0"/>
              </a:spcBef>
              <a:spcAft>
                <a:spcPts val="0"/>
              </a:spcAft>
              <a:buClr>
                <a:schemeClr val="dk1"/>
              </a:buClr>
              <a:buSzPct val="100000"/>
              <a:buFont typeface="Times New Roman"/>
              <a:buChar char="●"/>
            </a:pPr>
            <a:r>
              <a:rPr lang="en" sz="4850">
                <a:solidFill>
                  <a:schemeClr val="dk1"/>
                </a:solidFill>
                <a:latin typeface="Times New Roman"/>
                <a:ea typeface="Times New Roman"/>
                <a:cs typeface="Times New Roman"/>
                <a:sym typeface="Times New Roman"/>
              </a:rPr>
              <a:t>Motor response and control logic behave as expected in simulation</a:t>
            </a:r>
            <a:endParaRPr sz="485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4850">
                <a:solidFill>
                  <a:schemeClr val="dk1"/>
                </a:solidFill>
                <a:latin typeface="Times New Roman"/>
                <a:ea typeface="Times New Roman"/>
                <a:cs typeface="Times New Roman"/>
                <a:sym typeface="Times New Roman"/>
              </a:rPr>
              <a:t>What We’ve Verified So Far</a:t>
            </a:r>
            <a:endParaRPr sz="4850">
              <a:solidFill>
                <a:schemeClr val="dk1"/>
              </a:solidFill>
              <a:latin typeface="Times New Roman"/>
              <a:ea typeface="Times New Roman"/>
              <a:cs typeface="Times New Roman"/>
              <a:sym typeface="Times New Roman"/>
            </a:endParaRPr>
          </a:p>
          <a:p>
            <a:pPr marL="457200" lvl="0" indent="-305593" algn="l" rtl="0">
              <a:spcBef>
                <a:spcPts val="1200"/>
              </a:spcBef>
              <a:spcAft>
                <a:spcPts val="0"/>
              </a:spcAft>
              <a:buClr>
                <a:schemeClr val="dk1"/>
              </a:buClr>
              <a:buSzPct val="100000"/>
              <a:buFont typeface="Times New Roman"/>
              <a:buChar char="●"/>
            </a:pPr>
            <a:r>
              <a:rPr lang="en" sz="4850">
                <a:solidFill>
                  <a:schemeClr val="dk1"/>
                </a:solidFill>
                <a:latin typeface="Times New Roman"/>
                <a:ea typeface="Times New Roman"/>
                <a:cs typeface="Times New Roman"/>
                <a:sym typeface="Times New Roman"/>
              </a:rPr>
              <a:t>Actuators respond correctly to control inputs</a:t>
            </a:r>
            <a:endParaRPr sz="4850">
              <a:solidFill>
                <a:schemeClr val="dk1"/>
              </a:solidFill>
              <a:latin typeface="Times New Roman"/>
              <a:ea typeface="Times New Roman"/>
              <a:cs typeface="Times New Roman"/>
              <a:sym typeface="Times New Roman"/>
            </a:endParaRPr>
          </a:p>
          <a:p>
            <a:pPr marL="457200" lvl="0" indent="-305593" algn="l" rtl="0">
              <a:spcBef>
                <a:spcPts val="0"/>
              </a:spcBef>
              <a:spcAft>
                <a:spcPts val="0"/>
              </a:spcAft>
              <a:buClr>
                <a:schemeClr val="dk1"/>
              </a:buClr>
              <a:buSzPct val="100000"/>
              <a:buFont typeface="Times New Roman"/>
              <a:buChar char="●"/>
            </a:pPr>
            <a:r>
              <a:rPr lang="en" sz="4850">
                <a:solidFill>
                  <a:schemeClr val="dk1"/>
                </a:solidFill>
                <a:latin typeface="Times New Roman"/>
                <a:ea typeface="Times New Roman"/>
                <a:cs typeface="Times New Roman"/>
                <a:sym typeface="Times New Roman"/>
              </a:rPr>
              <a:t>Motors can be independently controlled</a:t>
            </a:r>
            <a:endParaRPr sz="4850">
              <a:solidFill>
                <a:schemeClr val="dk1"/>
              </a:solidFill>
              <a:latin typeface="Times New Roman"/>
              <a:ea typeface="Times New Roman"/>
              <a:cs typeface="Times New Roman"/>
              <a:sym typeface="Times New Roman"/>
            </a:endParaRPr>
          </a:p>
          <a:p>
            <a:pPr marL="457200" lvl="0" indent="-305593" algn="l" rtl="0">
              <a:spcBef>
                <a:spcPts val="0"/>
              </a:spcBef>
              <a:spcAft>
                <a:spcPts val="0"/>
              </a:spcAft>
              <a:buClr>
                <a:schemeClr val="dk1"/>
              </a:buClr>
              <a:buSzPct val="100000"/>
              <a:buFont typeface="Times New Roman"/>
              <a:buChar char="●"/>
            </a:pPr>
            <a:r>
              <a:rPr lang="en" sz="4850">
                <a:solidFill>
                  <a:schemeClr val="dk1"/>
                </a:solidFill>
                <a:latin typeface="Times New Roman"/>
                <a:ea typeface="Times New Roman"/>
                <a:cs typeface="Times New Roman"/>
                <a:sym typeface="Times New Roman"/>
              </a:rPr>
              <a:t>Basic forward and reverse operation works as intended</a:t>
            </a:r>
            <a:endParaRPr sz="485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4850">
                <a:solidFill>
                  <a:schemeClr val="dk1"/>
                </a:solidFill>
                <a:latin typeface="Times New Roman"/>
                <a:ea typeface="Times New Roman"/>
                <a:cs typeface="Times New Roman"/>
                <a:sym typeface="Times New Roman"/>
              </a:rPr>
              <a:t>Ongoing Development</a:t>
            </a:r>
            <a:endParaRPr sz="4850">
              <a:solidFill>
                <a:schemeClr val="dk1"/>
              </a:solidFill>
              <a:latin typeface="Times New Roman"/>
              <a:ea typeface="Times New Roman"/>
              <a:cs typeface="Times New Roman"/>
              <a:sym typeface="Times New Roman"/>
            </a:endParaRPr>
          </a:p>
          <a:p>
            <a:pPr marL="457200" lvl="0" indent="-305593" algn="l" rtl="0">
              <a:spcBef>
                <a:spcPts val="1200"/>
              </a:spcBef>
              <a:spcAft>
                <a:spcPts val="0"/>
              </a:spcAft>
              <a:buClr>
                <a:schemeClr val="dk1"/>
              </a:buClr>
              <a:buSzPct val="100000"/>
              <a:buFont typeface="Times New Roman"/>
              <a:buChar char="●"/>
            </a:pPr>
            <a:r>
              <a:rPr lang="en" sz="4850">
                <a:solidFill>
                  <a:schemeClr val="dk1"/>
                </a:solidFill>
                <a:latin typeface="Times New Roman"/>
                <a:ea typeface="Times New Roman"/>
                <a:cs typeface="Times New Roman"/>
                <a:sym typeface="Times New Roman"/>
              </a:rPr>
              <a:t>Adding safety features such as emergency stop logic / Sensors</a:t>
            </a:r>
            <a:endParaRPr sz="4850">
              <a:solidFill>
                <a:schemeClr val="dk1"/>
              </a:solidFill>
              <a:latin typeface="Times New Roman"/>
              <a:ea typeface="Times New Roman"/>
              <a:cs typeface="Times New Roman"/>
              <a:sym typeface="Times New Roman"/>
            </a:endParaRPr>
          </a:p>
          <a:p>
            <a:pPr marL="457200" lvl="0" indent="-305593" algn="l" rtl="0">
              <a:spcBef>
                <a:spcPts val="0"/>
              </a:spcBef>
              <a:spcAft>
                <a:spcPts val="0"/>
              </a:spcAft>
              <a:buClr>
                <a:schemeClr val="dk1"/>
              </a:buClr>
              <a:buSzPct val="100000"/>
              <a:buFont typeface="Times New Roman"/>
              <a:buChar char="●"/>
            </a:pPr>
            <a:r>
              <a:rPr lang="en" sz="4850">
                <a:latin typeface="Times New Roman"/>
                <a:ea typeface="Times New Roman"/>
                <a:cs typeface="Times New Roman"/>
                <a:sym typeface="Times New Roman"/>
              </a:rPr>
              <a:t>Getting the firmware ready to work with the full 3D-printed arm assembly</a:t>
            </a:r>
            <a:endParaRPr sz="4850">
              <a:solidFill>
                <a:schemeClr val="dk1"/>
              </a:solidFill>
              <a:latin typeface="Times New Roman"/>
              <a:ea typeface="Times New Roman"/>
              <a:cs typeface="Times New Roman"/>
              <a:sym typeface="Times New Roman"/>
            </a:endParaRPr>
          </a:p>
          <a:p>
            <a:pPr marL="457200" lvl="0" indent="-305593" algn="l" rtl="0">
              <a:spcBef>
                <a:spcPts val="0"/>
              </a:spcBef>
              <a:spcAft>
                <a:spcPts val="0"/>
              </a:spcAft>
              <a:buClr>
                <a:schemeClr val="dk1"/>
              </a:buClr>
              <a:buSzPct val="100000"/>
              <a:buFont typeface="Times New Roman"/>
              <a:buChar char="●"/>
            </a:pPr>
            <a:r>
              <a:rPr lang="en" sz="4850">
                <a:latin typeface="Times New Roman"/>
                <a:ea typeface="Times New Roman"/>
                <a:cs typeface="Times New Roman"/>
                <a:sym typeface="Times New Roman"/>
              </a:rPr>
              <a:t>Making adjustments based on how the printed joints and cable routing behave in practice</a:t>
            </a:r>
            <a:endParaRPr sz="4850">
              <a:solidFill>
                <a:schemeClr val="dk1"/>
              </a:solidFill>
              <a:latin typeface="Times New Roman"/>
              <a:ea typeface="Times New Roman"/>
              <a:cs typeface="Times New Roman"/>
              <a:sym typeface="Times New Roman"/>
            </a:endParaRPr>
          </a:p>
          <a:p>
            <a:pPr marL="457200" lvl="0" indent="-305593" algn="l" rtl="0">
              <a:spcBef>
                <a:spcPts val="0"/>
              </a:spcBef>
              <a:spcAft>
                <a:spcPts val="0"/>
              </a:spcAft>
              <a:buSzPct val="100000"/>
              <a:buFont typeface="Times New Roman"/>
              <a:buChar char="●"/>
            </a:pPr>
            <a:r>
              <a:rPr lang="en" sz="4850">
                <a:latin typeface="Times New Roman"/>
                <a:ea typeface="Times New Roman"/>
                <a:cs typeface="Times New Roman"/>
                <a:sym typeface="Times New Roman"/>
              </a:rPr>
              <a:t>Planning support for additional sensors and safety features during physical testing</a:t>
            </a:r>
            <a:endParaRPr sz="4850">
              <a:solidFill>
                <a:schemeClr val="dk1"/>
              </a:solidFill>
              <a:latin typeface="Times New Roman"/>
              <a:ea typeface="Times New Roman"/>
              <a:cs typeface="Times New Roman"/>
              <a:sym typeface="Times New Roman"/>
            </a:endParaRPr>
          </a:p>
          <a:p>
            <a:pPr marL="457200" lvl="0" indent="-305593" algn="l" rtl="0">
              <a:spcBef>
                <a:spcPts val="0"/>
              </a:spcBef>
              <a:spcAft>
                <a:spcPts val="0"/>
              </a:spcAft>
              <a:buSzPct val="100000"/>
              <a:buFont typeface="Times New Roman"/>
              <a:buChar char="●"/>
            </a:pPr>
            <a:r>
              <a:rPr lang="en" sz="4850">
                <a:latin typeface="Times New Roman"/>
                <a:ea typeface="Times New Roman"/>
                <a:cs typeface="Times New Roman"/>
                <a:sym typeface="Times New Roman"/>
              </a:rPr>
              <a:t>Moving from basic functionality toward full subsystem integration</a:t>
            </a:r>
            <a:endParaRPr sz="4850">
              <a:latin typeface="Times New Roman"/>
              <a:ea typeface="Times New Roman"/>
              <a:cs typeface="Times New Roman"/>
              <a:sym typeface="Times New Roman"/>
            </a:endParaRPr>
          </a:p>
          <a:p>
            <a:pPr marL="0" lvl="0" indent="0" algn="l" rtl="0">
              <a:spcBef>
                <a:spcPts val="1200"/>
              </a:spcBef>
              <a:spcAft>
                <a:spcPts val="0"/>
              </a:spcAft>
              <a:buNone/>
            </a:pPr>
            <a:endParaRPr sz="1200">
              <a:latin typeface="Times New Roman"/>
              <a:ea typeface="Times New Roman"/>
              <a:cs typeface="Times New Roman"/>
              <a:sym typeface="Times New Roman"/>
            </a:endParaRPr>
          </a:p>
          <a:p>
            <a:pPr marL="0" lvl="0" indent="0" algn="l" rtl="0">
              <a:spcBef>
                <a:spcPts val="1200"/>
              </a:spcBef>
              <a:spcAft>
                <a:spcPts val="0"/>
              </a:spcAft>
              <a:buNone/>
            </a:pPr>
            <a:endParaRPr sz="1200">
              <a:latin typeface="Times New Roman"/>
              <a:ea typeface="Times New Roman"/>
              <a:cs typeface="Times New Roman"/>
              <a:sym typeface="Times New Roman"/>
            </a:endParaRPr>
          </a:p>
          <a:p>
            <a:pPr marL="0" lvl="0" indent="0" algn="l" rtl="0">
              <a:spcBef>
                <a:spcPts val="1200"/>
              </a:spcBef>
              <a:spcAft>
                <a:spcPts val="1200"/>
              </a:spcAft>
              <a:buNone/>
            </a:pPr>
            <a:endParaRPr sz="12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2"/>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Preliminary Design </a:t>
            </a:r>
            <a:endParaRPr/>
          </a:p>
        </p:txBody>
      </p:sp>
      <p:sp>
        <p:nvSpPr>
          <p:cNvPr id="119" name="Google Shape;119;p22"/>
          <p:cNvSpPr txBox="1">
            <a:spLocks noGrp="1"/>
          </p:cNvSpPr>
          <p:nvPr>
            <p:ph type="body" idx="1"/>
          </p:nvPr>
        </p:nvSpPr>
        <p:spPr>
          <a:xfrm>
            <a:off x="311700" y="1192400"/>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solidFill>
                  <a:schemeClr val="dk1"/>
                </a:solidFill>
                <a:latin typeface="Times New Roman"/>
                <a:ea typeface="Times New Roman"/>
                <a:cs typeface="Times New Roman"/>
                <a:sym typeface="Times New Roman"/>
              </a:rPr>
              <a:t>		First Dual Motor Code→					        Functional New→ </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a:solidFill>
                  <a:schemeClr val="dk1"/>
                </a:solidFill>
                <a:latin typeface="Times New Roman"/>
                <a:ea typeface="Times New Roman"/>
                <a:cs typeface="Times New Roman"/>
                <a:sym typeface="Times New Roman"/>
              </a:rPr>
              <a:t>										        Dual Motor Code</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r>
              <a:rPr lang="en" sz="1200">
                <a:solidFill>
                  <a:schemeClr val="dk1"/>
                </a:solidFill>
                <a:latin typeface="Times New Roman"/>
                <a:ea typeface="Times New Roman"/>
                <a:cs typeface="Times New Roman"/>
                <a:sym typeface="Times New Roman"/>
              </a:rPr>
              <a:t>Original Base Code</a:t>
            </a:r>
            <a:endParaRPr sz="1200">
              <a:solidFill>
                <a:schemeClr val="dk1"/>
              </a:solidFill>
              <a:latin typeface="Times New Roman"/>
              <a:ea typeface="Times New Roman"/>
              <a:cs typeface="Times New Roman"/>
              <a:sym typeface="Times New Roman"/>
            </a:endParaRPr>
          </a:p>
        </p:txBody>
      </p:sp>
      <p:pic>
        <p:nvPicPr>
          <p:cNvPr id="120" name="Google Shape;120;p22"/>
          <p:cNvPicPr preferRelativeResize="0"/>
          <p:nvPr/>
        </p:nvPicPr>
        <p:blipFill>
          <a:blip r:embed="rId3">
            <a:alphaModFix/>
          </a:blip>
          <a:stretch>
            <a:fillRect/>
          </a:stretch>
        </p:blipFill>
        <p:spPr>
          <a:xfrm>
            <a:off x="6450050" y="267613"/>
            <a:ext cx="2382250" cy="4608275"/>
          </a:xfrm>
          <a:prstGeom prst="rect">
            <a:avLst/>
          </a:prstGeom>
          <a:noFill/>
          <a:ln>
            <a:noFill/>
          </a:ln>
        </p:spPr>
      </p:pic>
      <p:pic>
        <p:nvPicPr>
          <p:cNvPr id="121" name="Google Shape;121;p22"/>
          <p:cNvPicPr preferRelativeResize="0"/>
          <p:nvPr/>
        </p:nvPicPr>
        <p:blipFill>
          <a:blip r:embed="rId4">
            <a:alphaModFix/>
          </a:blip>
          <a:stretch>
            <a:fillRect/>
          </a:stretch>
        </p:blipFill>
        <p:spPr>
          <a:xfrm>
            <a:off x="311701" y="2260200"/>
            <a:ext cx="2192250" cy="2615700"/>
          </a:xfrm>
          <a:prstGeom prst="rect">
            <a:avLst/>
          </a:prstGeom>
          <a:noFill/>
          <a:ln>
            <a:noFill/>
          </a:ln>
        </p:spPr>
      </p:pic>
      <p:pic>
        <p:nvPicPr>
          <p:cNvPr id="122" name="Google Shape;122;p22"/>
          <p:cNvPicPr preferRelativeResize="0"/>
          <p:nvPr/>
        </p:nvPicPr>
        <p:blipFill>
          <a:blip r:embed="rId5">
            <a:alphaModFix/>
          </a:blip>
          <a:stretch>
            <a:fillRect/>
          </a:stretch>
        </p:blipFill>
        <p:spPr>
          <a:xfrm>
            <a:off x="3074527" y="1232362"/>
            <a:ext cx="2192250" cy="36435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pic>
        <p:nvPicPr>
          <p:cNvPr id="127" name="Google Shape;127;p23"/>
          <p:cNvPicPr preferRelativeResize="0"/>
          <p:nvPr/>
        </p:nvPicPr>
        <p:blipFill>
          <a:blip r:embed="rId3">
            <a:alphaModFix/>
          </a:blip>
          <a:stretch>
            <a:fillRect/>
          </a:stretch>
        </p:blipFill>
        <p:spPr>
          <a:xfrm>
            <a:off x="4331900" y="494763"/>
            <a:ext cx="3323625" cy="1701025"/>
          </a:xfrm>
          <a:prstGeom prst="rect">
            <a:avLst/>
          </a:prstGeom>
          <a:noFill/>
          <a:ln>
            <a:noFill/>
          </a:ln>
        </p:spPr>
      </p:pic>
      <p:pic>
        <p:nvPicPr>
          <p:cNvPr id="128" name="Google Shape;128;p23"/>
          <p:cNvPicPr preferRelativeResize="0"/>
          <p:nvPr/>
        </p:nvPicPr>
        <p:blipFill>
          <a:blip r:embed="rId4">
            <a:alphaModFix/>
          </a:blip>
          <a:stretch>
            <a:fillRect/>
          </a:stretch>
        </p:blipFill>
        <p:spPr>
          <a:xfrm>
            <a:off x="962049" y="590825"/>
            <a:ext cx="2638425" cy="3629025"/>
          </a:xfrm>
          <a:prstGeom prst="rect">
            <a:avLst/>
          </a:prstGeom>
          <a:noFill/>
          <a:ln>
            <a:noFill/>
          </a:ln>
        </p:spPr>
      </p:pic>
      <p:sp>
        <p:nvSpPr>
          <p:cNvPr id="129" name="Google Shape;129;p23"/>
          <p:cNvSpPr txBox="1"/>
          <p:nvPr/>
        </p:nvSpPr>
        <p:spPr>
          <a:xfrm>
            <a:off x="4337975" y="2460900"/>
            <a:ext cx="3828000" cy="191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a:solidFill>
                  <a:schemeClr val="dk1"/>
                </a:solidFill>
              </a:rPr>
              <a:t>Measurements of all electronic components have been taken and will be inset into the model.</a:t>
            </a: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100">
                <a:solidFill>
                  <a:schemeClr val="dk1"/>
                </a:solidFill>
              </a:rPr>
              <a:t>Red: Linear actuator</a:t>
            </a: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100">
                <a:solidFill>
                  <a:schemeClr val="dk1"/>
                </a:solidFill>
              </a:rPr>
              <a:t>Orange: Bread board</a:t>
            </a: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100">
                <a:solidFill>
                  <a:schemeClr val="dk1"/>
                </a:solidFill>
              </a:rPr>
              <a:t>Purple: Motor Driver</a:t>
            </a: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100">
                <a:solidFill>
                  <a:schemeClr val="dk1"/>
                </a:solidFill>
              </a:rPr>
              <a:t>Green: Arduino Board</a:t>
            </a: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100">
                <a:solidFill>
                  <a:schemeClr val="dk1"/>
                </a:solidFill>
              </a:rPr>
              <a:t>Blue: Micro Server</a:t>
            </a: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100">
                <a:solidFill>
                  <a:schemeClr val="dk1"/>
                </a:solidFill>
              </a:rPr>
              <a:t>Black: Battery Pack</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4"/>
          <p:cNvPicPr preferRelativeResize="0"/>
          <p:nvPr/>
        </p:nvPicPr>
        <p:blipFill>
          <a:blip r:embed="rId3">
            <a:alphaModFix/>
          </a:blip>
          <a:stretch>
            <a:fillRect/>
          </a:stretch>
        </p:blipFill>
        <p:spPr>
          <a:xfrm>
            <a:off x="6055151" y="535925"/>
            <a:ext cx="2849900" cy="4215850"/>
          </a:xfrm>
          <a:prstGeom prst="rect">
            <a:avLst/>
          </a:prstGeom>
          <a:noFill/>
          <a:ln>
            <a:noFill/>
          </a:ln>
        </p:spPr>
      </p:pic>
      <p:pic>
        <p:nvPicPr>
          <p:cNvPr id="135" name="Google Shape;135;p24"/>
          <p:cNvPicPr preferRelativeResize="0"/>
          <p:nvPr/>
        </p:nvPicPr>
        <p:blipFill>
          <a:blip r:embed="rId4">
            <a:alphaModFix/>
          </a:blip>
          <a:stretch>
            <a:fillRect/>
          </a:stretch>
        </p:blipFill>
        <p:spPr>
          <a:xfrm>
            <a:off x="3281577" y="650322"/>
            <a:ext cx="2684975" cy="3483603"/>
          </a:xfrm>
          <a:prstGeom prst="rect">
            <a:avLst/>
          </a:prstGeom>
          <a:noFill/>
          <a:ln>
            <a:noFill/>
          </a:ln>
        </p:spPr>
      </p:pic>
      <p:pic>
        <p:nvPicPr>
          <p:cNvPr id="136" name="Google Shape;136;p24"/>
          <p:cNvPicPr preferRelativeResize="0"/>
          <p:nvPr/>
        </p:nvPicPr>
        <p:blipFill>
          <a:blip r:embed="rId5">
            <a:alphaModFix/>
          </a:blip>
          <a:stretch>
            <a:fillRect/>
          </a:stretch>
        </p:blipFill>
        <p:spPr>
          <a:xfrm rot="5400000">
            <a:off x="-68914" y="795188"/>
            <a:ext cx="3406750" cy="3117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0"/>
        <p:cNvGrpSpPr/>
        <p:nvPr/>
      </p:nvGrpSpPr>
      <p:grpSpPr>
        <a:xfrm>
          <a:off x="0" y="0"/>
          <a:ext cx="0" cy="0"/>
          <a:chOff x="0" y="0"/>
          <a:chExt cx="0" cy="0"/>
        </a:xfrm>
      </p:grpSpPr>
      <p:pic>
        <p:nvPicPr>
          <p:cNvPr id="141" name="Google Shape;141;p25"/>
          <p:cNvPicPr preferRelativeResize="0"/>
          <p:nvPr/>
        </p:nvPicPr>
        <p:blipFill>
          <a:blip r:embed="rId3">
            <a:alphaModFix/>
          </a:blip>
          <a:stretch>
            <a:fillRect/>
          </a:stretch>
        </p:blipFill>
        <p:spPr>
          <a:xfrm>
            <a:off x="421699" y="203974"/>
            <a:ext cx="2489050" cy="2266299"/>
          </a:xfrm>
          <a:prstGeom prst="rect">
            <a:avLst/>
          </a:prstGeom>
          <a:noFill/>
          <a:ln>
            <a:noFill/>
          </a:ln>
        </p:spPr>
      </p:pic>
      <p:pic>
        <p:nvPicPr>
          <p:cNvPr id="142" name="Google Shape;142;p25"/>
          <p:cNvPicPr preferRelativeResize="0"/>
          <p:nvPr/>
        </p:nvPicPr>
        <p:blipFill>
          <a:blip r:embed="rId4">
            <a:alphaModFix/>
          </a:blip>
          <a:stretch>
            <a:fillRect/>
          </a:stretch>
        </p:blipFill>
        <p:spPr>
          <a:xfrm>
            <a:off x="3305676" y="495563"/>
            <a:ext cx="1969612" cy="1683123"/>
          </a:xfrm>
          <a:prstGeom prst="rect">
            <a:avLst/>
          </a:prstGeom>
          <a:noFill/>
          <a:ln>
            <a:noFill/>
          </a:ln>
        </p:spPr>
      </p:pic>
      <p:pic>
        <p:nvPicPr>
          <p:cNvPr id="143" name="Google Shape;143;p25"/>
          <p:cNvPicPr preferRelativeResize="0"/>
          <p:nvPr/>
        </p:nvPicPr>
        <p:blipFill>
          <a:blip r:embed="rId5">
            <a:alphaModFix/>
          </a:blip>
          <a:stretch>
            <a:fillRect/>
          </a:stretch>
        </p:blipFill>
        <p:spPr>
          <a:xfrm>
            <a:off x="5936288" y="374775"/>
            <a:ext cx="2686050" cy="2095500"/>
          </a:xfrm>
          <a:prstGeom prst="rect">
            <a:avLst/>
          </a:prstGeom>
          <a:noFill/>
          <a:ln>
            <a:noFill/>
          </a:ln>
        </p:spPr>
      </p:pic>
      <p:pic>
        <p:nvPicPr>
          <p:cNvPr id="144" name="Google Shape;144;p25"/>
          <p:cNvPicPr preferRelativeResize="0"/>
          <p:nvPr/>
        </p:nvPicPr>
        <p:blipFill>
          <a:blip r:embed="rId6">
            <a:alphaModFix/>
          </a:blip>
          <a:stretch>
            <a:fillRect/>
          </a:stretch>
        </p:blipFill>
        <p:spPr>
          <a:xfrm>
            <a:off x="163225" y="2695374"/>
            <a:ext cx="3361825" cy="1945600"/>
          </a:xfrm>
          <a:prstGeom prst="rect">
            <a:avLst/>
          </a:prstGeom>
          <a:noFill/>
          <a:ln>
            <a:noFill/>
          </a:ln>
        </p:spPr>
      </p:pic>
      <p:pic>
        <p:nvPicPr>
          <p:cNvPr id="145" name="Google Shape;145;p25"/>
          <p:cNvPicPr preferRelativeResize="0"/>
          <p:nvPr/>
        </p:nvPicPr>
        <p:blipFill>
          <a:blip r:embed="rId7">
            <a:alphaModFix/>
          </a:blip>
          <a:stretch>
            <a:fillRect/>
          </a:stretch>
        </p:blipFill>
        <p:spPr>
          <a:xfrm>
            <a:off x="3758750" y="2571750"/>
            <a:ext cx="1910912" cy="1918450"/>
          </a:xfrm>
          <a:prstGeom prst="rect">
            <a:avLst/>
          </a:prstGeom>
          <a:noFill/>
          <a:ln>
            <a:noFill/>
          </a:ln>
        </p:spPr>
      </p:pic>
      <p:pic>
        <p:nvPicPr>
          <p:cNvPr id="146" name="Google Shape;146;p25"/>
          <p:cNvPicPr preferRelativeResize="0"/>
          <p:nvPr/>
        </p:nvPicPr>
        <p:blipFill>
          <a:blip r:embed="rId8">
            <a:alphaModFix/>
          </a:blip>
          <a:stretch>
            <a:fillRect/>
          </a:stretch>
        </p:blipFill>
        <p:spPr>
          <a:xfrm>
            <a:off x="6056412" y="2762275"/>
            <a:ext cx="2565927" cy="1918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6666"/>
              <a:buFont typeface="Arial"/>
              <a:buNone/>
            </a:pPr>
            <a:endParaRPr/>
          </a:p>
          <a:p>
            <a:pPr marL="0" lvl="0" indent="0" algn="l" rtl="0">
              <a:spcBef>
                <a:spcPts val="0"/>
              </a:spcBef>
              <a:spcAft>
                <a:spcPts val="0"/>
              </a:spcAft>
              <a:buNone/>
            </a:pPr>
            <a:endParaRPr/>
          </a:p>
        </p:txBody>
      </p:sp>
      <p:pic>
        <p:nvPicPr>
          <p:cNvPr id="152" name="Google Shape;152;p26"/>
          <p:cNvPicPr preferRelativeResize="0"/>
          <p:nvPr/>
        </p:nvPicPr>
        <p:blipFill>
          <a:blip r:embed="rId3">
            <a:alphaModFix/>
          </a:blip>
          <a:stretch>
            <a:fillRect/>
          </a:stretch>
        </p:blipFill>
        <p:spPr>
          <a:xfrm>
            <a:off x="3429825" y="187213"/>
            <a:ext cx="2819400" cy="2295525"/>
          </a:xfrm>
          <a:prstGeom prst="rect">
            <a:avLst/>
          </a:prstGeom>
          <a:noFill/>
          <a:ln>
            <a:noFill/>
          </a:ln>
        </p:spPr>
      </p:pic>
      <p:pic>
        <p:nvPicPr>
          <p:cNvPr id="153" name="Google Shape;153;p26"/>
          <p:cNvPicPr preferRelativeResize="0"/>
          <p:nvPr/>
        </p:nvPicPr>
        <p:blipFill>
          <a:blip r:embed="rId4">
            <a:alphaModFix/>
          </a:blip>
          <a:stretch>
            <a:fillRect/>
          </a:stretch>
        </p:blipFill>
        <p:spPr>
          <a:xfrm rot="-5400000">
            <a:off x="1089850" y="2304875"/>
            <a:ext cx="2622274" cy="2647225"/>
          </a:xfrm>
          <a:prstGeom prst="rect">
            <a:avLst/>
          </a:prstGeom>
          <a:noFill/>
          <a:ln>
            <a:noFill/>
          </a:ln>
        </p:spPr>
      </p:pic>
      <p:pic>
        <p:nvPicPr>
          <p:cNvPr id="154" name="Google Shape;154;p26"/>
          <p:cNvPicPr preferRelativeResize="0"/>
          <p:nvPr/>
        </p:nvPicPr>
        <p:blipFill>
          <a:blip r:embed="rId5">
            <a:alphaModFix/>
          </a:blip>
          <a:stretch>
            <a:fillRect/>
          </a:stretch>
        </p:blipFill>
        <p:spPr>
          <a:xfrm>
            <a:off x="234725" y="187225"/>
            <a:ext cx="2543950" cy="2422200"/>
          </a:xfrm>
          <a:prstGeom prst="rect">
            <a:avLst/>
          </a:prstGeom>
          <a:noFill/>
          <a:ln>
            <a:noFill/>
          </a:ln>
        </p:spPr>
      </p:pic>
      <p:pic>
        <p:nvPicPr>
          <p:cNvPr id="155" name="Google Shape;155;p26"/>
          <p:cNvPicPr preferRelativeResize="0"/>
          <p:nvPr/>
        </p:nvPicPr>
        <p:blipFill>
          <a:blip r:embed="rId6">
            <a:alphaModFix/>
          </a:blip>
          <a:stretch>
            <a:fillRect/>
          </a:stretch>
        </p:blipFill>
        <p:spPr>
          <a:xfrm>
            <a:off x="5636997" y="1664700"/>
            <a:ext cx="3038950" cy="32749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p27"/>
          <p:cNvPicPr preferRelativeResize="0"/>
          <p:nvPr/>
        </p:nvPicPr>
        <p:blipFill>
          <a:blip r:embed="rId3">
            <a:alphaModFix/>
          </a:blip>
          <a:stretch>
            <a:fillRect/>
          </a:stretch>
        </p:blipFill>
        <p:spPr>
          <a:xfrm>
            <a:off x="60450" y="193750"/>
            <a:ext cx="3346450" cy="2564800"/>
          </a:xfrm>
          <a:prstGeom prst="rect">
            <a:avLst/>
          </a:prstGeom>
          <a:noFill/>
          <a:ln>
            <a:noFill/>
          </a:ln>
        </p:spPr>
      </p:pic>
      <p:pic>
        <p:nvPicPr>
          <p:cNvPr id="161" name="Google Shape;161;p27"/>
          <p:cNvPicPr preferRelativeResize="0"/>
          <p:nvPr/>
        </p:nvPicPr>
        <p:blipFill>
          <a:blip r:embed="rId4">
            <a:alphaModFix/>
          </a:blip>
          <a:stretch>
            <a:fillRect/>
          </a:stretch>
        </p:blipFill>
        <p:spPr>
          <a:xfrm>
            <a:off x="3483574" y="149550"/>
            <a:ext cx="2895701" cy="2653199"/>
          </a:xfrm>
          <a:prstGeom prst="rect">
            <a:avLst/>
          </a:prstGeom>
          <a:noFill/>
          <a:ln>
            <a:noFill/>
          </a:ln>
        </p:spPr>
      </p:pic>
      <p:pic>
        <p:nvPicPr>
          <p:cNvPr id="162" name="Google Shape;162;p27"/>
          <p:cNvPicPr preferRelativeResize="0"/>
          <p:nvPr/>
        </p:nvPicPr>
        <p:blipFill>
          <a:blip r:embed="rId5">
            <a:alphaModFix/>
          </a:blip>
          <a:stretch>
            <a:fillRect/>
          </a:stretch>
        </p:blipFill>
        <p:spPr>
          <a:xfrm rot="-5400000">
            <a:off x="386138" y="2547725"/>
            <a:ext cx="2197175" cy="2707225"/>
          </a:xfrm>
          <a:prstGeom prst="rect">
            <a:avLst/>
          </a:prstGeom>
          <a:noFill/>
          <a:ln>
            <a:noFill/>
          </a:ln>
        </p:spPr>
      </p:pic>
      <p:pic>
        <p:nvPicPr>
          <p:cNvPr id="163" name="Google Shape;163;p27"/>
          <p:cNvPicPr preferRelativeResize="0"/>
          <p:nvPr/>
        </p:nvPicPr>
        <p:blipFill>
          <a:blip r:embed="rId6">
            <a:alphaModFix/>
          </a:blip>
          <a:stretch>
            <a:fillRect/>
          </a:stretch>
        </p:blipFill>
        <p:spPr>
          <a:xfrm>
            <a:off x="3019100" y="2999972"/>
            <a:ext cx="1552900" cy="1926475"/>
          </a:xfrm>
          <a:prstGeom prst="rect">
            <a:avLst/>
          </a:prstGeom>
          <a:noFill/>
          <a:ln>
            <a:noFill/>
          </a:ln>
        </p:spPr>
      </p:pic>
      <p:pic>
        <p:nvPicPr>
          <p:cNvPr id="164" name="Google Shape;164;p27"/>
          <p:cNvPicPr preferRelativeResize="0"/>
          <p:nvPr/>
        </p:nvPicPr>
        <p:blipFill>
          <a:blip r:embed="rId7">
            <a:alphaModFix/>
          </a:blip>
          <a:stretch>
            <a:fillRect/>
          </a:stretch>
        </p:blipFill>
        <p:spPr>
          <a:xfrm>
            <a:off x="6645469" y="306019"/>
            <a:ext cx="1522400" cy="2452525"/>
          </a:xfrm>
          <a:prstGeom prst="rect">
            <a:avLst/>
          </a:prstGeom>
          <a:noFill/>
          <a:ln>
            <a:noFill/>
          </a:ln>
        </p:spPr>
      </p:pic>
      <p:pic>
        <p:nvPicPr>
          <p:cNvPr id="165" name="Google Shape;165;p27"/>
          <p:cNvPicPr preferRelativeResize="0"/>
          <p:nvPr/>
        </p:nvPicPr>
        <p:blipFill>
          <a:blip r:embed="rId8">
            <a:alphaModFix/>
          </a:blip>
          <a:stretch>
            <a:fillRect/>
          </a:stretch>
        </p:blipFill>
        <p:spPr>
          <a:xfrm>
            <a:off x="4957599" y="2923132"/>
            <a:ext cx="2204280" cy="208015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8"/>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Verification plan and status</a:t>
            </a:r>
            <a:endParaRPr/>
          </a:p>
        </p:txBody>
      </p:sp>
      <p:sp>
        <p:nvSpPr>
          <p:cNvPr id="171" name="Google Shape;171;p28"/>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a:solidFill>
                  <a:srgbClr val="000000"/>
                </a:solidFill>
                <a:latin typeface="Times New Roman"/>
                <a:ea typeface="Times New Roman"/>
                <a:cs typeface="Times New Roman"/>
                <a:sym typeface="Times New Roman"/>
              </a:rPr>
              <a:t>Verification Approach</a:t>
            </a:r>
            <a:endParaRPr sz="1200" b="1">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Subsystem-level verification before full system assembly</a:t>
            </a: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Mechanical verification through 3D test prints and physical fit checks</a:t>
            </a: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chemeClr val="dk1"/>
                </a:solidFill>
                <a:latin typeface="Times New Roman"/>
                <a:ea typeface="Times New Roman"/>
                <a:cs typeface="Times New Roman"/>
                <a:sym typeface="Times New Roman"/>
              </a:rPr>
              <a:t>Electrical and firmware verification using Tinkercad simulations</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chemeClr val="dk1"/>
                </a:solidFill>
                <a:latin typeface="Times New Roman"/>
                <a:ea typeface="Times New Roman"/>
                <a:cs typeface="Times New Roman"/>
                <a:sym typeface="Times New Roman"/>
              </a:rPr>
              <a:t>Current Status</a:t>
            </a:r>
            <a:endParaRPr sz="1200" b="1">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Finger joints and extending rod mechanically verified</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Motor control and actuator logic verified in simulation</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Full system integration verification planned for next milestone</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chemeClr val="dk1"/>
                </a:solidFill>
                <a:latin typeface="Times New Roman"/>
                <a:ea typeface="Times New Roman"/>
                <a:cs typeface="Times New Roman"/>
                <a:sym typeface="Times New Roman"/>
              </a:rPr>
              <a:t>Schedule Impact</a:t>
            </a:r>
            <a:endParaRPr sz="1200" b="1">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Minor delays due to design iteration and fit adjustments</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Overall schedule remains on track based on milestone completion dates</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9"/>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System Integration</a:t>
            </a:r>
            <a:endParaRPr/>
          </a:p>
        </p:txBody>
      </p:sp>
      <p:sp>
        <p:nvSpPr>
          <p:cNvPr id="177" name="Google Shape;177;p29"/>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a:solidFill>
                  <a:schemeClr val="dk1"/>
                </a:solidFill>
                <a:latin typeface="Times New Roman"/>
                <a:ea typeface="Times New Roman"/>
                <a:cs typeface="Times New Roman"/>
                <a:sym typeface="Times New Roman"/>
              </a:rPr>
              <a:t>Interfaces</a:t>
            </a:r>
            <a:endParaRPr sz="1200" b="1">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Actuators: Linear actuator and motors driving finger cable system</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Char char="●"/>
            </a:pPr>
            <a:r>
              <a:rPr lang="en" sz="1200">
                <a:solidFill>
                  <a:schemeClr val="dk1"/>
                </a:solidFill>
                <a:latin typeface="Times New Roman"/>
                <a:ea typeface="Times New Roman"/>
                <a:cs typeface="Times New Roman"/>
                <a:sym typeface="Times New Roman"/>
              </a:rPr>
              <a:t>Sensors (planned): Emergency stop and future safety inputs</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Char char="●"/>
            </a:pPr>
            <a:r>
              <a:rPr lang="en" sz="1200">
                <a:solidFill>
                  <a:schemeClr val="dk1"/>
                </a:solidFill>
                <a:latin typeface="Times New Roman"/>
                <a:ea typeface="Times New Roman"/>
                <a:cs typeface="Times New Roman"/>
                <a:sym typeface="Times New Roman"/>
              </a:rPr>
              <a:t>Communications: Direct microcontroller control (no external comms yet)</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Char char="●"/>
            </a:pPr>
            <a:r>
              <a:rPr lang="en" sz="1200">
                <a:solidFill>
                  <a:schemeClr val="dk1"/>
                </a:solidFill>
                <a:latin typeface="Times New Roman"/>
                <a:ea typeface="Times New Roman"/>
                <a:cs typeface="Times New Roman"/>
                <a:sym typeface="Times New Roman"/>
              </a:rPr>
              <a:t>Control Signals: PWM for motors and actuators</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chemeClr val="dk1"/>
                </a:solidFill>
                <a:latin typeface="Times New Roman"/>
                <a:ea typeface="Times New Roman"/>
                <a:cs typeface="Times New Roman"/>
                <a:sym typeface="Times New Roman"/>
              </a:rPr>
              <a:t>Error Handling &amp; Logging</a:t>
            </a:r>
            <a:endParaRPr sz="1200" b="1">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Manual emergency stop planned for physical testing</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Error handling will be expanded as sensors are added</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endParaRPr sz="1200" b="1">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0"/>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System power integration</a:t>
            </a:r>
            <a:endParaRPr/>
          </a:p>
        </p:txBody>
      </p:sp>
      <p:sp>
        <p:nvSpPr>
          <p:cNvPr id="183" name="Google Shape;183;p30"/>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1200" b="1">
                <a:solidFill>
                  <a:srgbClr val="000000"/>
                </a:solidFill>
                <a:latin typeface="Times New Roman"/>
                <a:ea typeface="Times New Roman"/>
                <a:cs typeface="Times New Roman"/>
                <a:sym typeface="Times New Roman"/>
              </a:rPr>
              <a:t>Power Budget</a:t>
            </a:r>
            <a:endParaRPr sz="1200" b="1">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Rechargeable  Battery pack selected based on actuator and motor requirements</a:t>
            </a: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Power routing reviewed to prevent interference and backfeeding</a:t>
            </a:r>
            <a:endParaRPr sz="120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rgbClr val="000000"/>
                </a:solidFill>
                <a:latin typeface="Times New Roman"/>
                <a:ea typeface="Times New Roman"/>
                <a:cs typeface="Times New Roman"/>
                <a:sym typeface="Times New Roman"/>
              </a:rPr>
              <a:t>Thermal Considerations</a:t>
            </a:r>
            <a:endParaRPr sz="1200" b="1">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Motor driver and actuator placement designed to reduce heat buildup</a:t>
            </a: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No thermal issues observed during simulation testing</a:t>
            </a: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Thermal behavior to be verified during physical operation</a:t>
            </a:r>
            <a:endParaRPr sz="120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rgbClr val="000000"/>
                </a:solidFill>
                <a:latin typeface="Times New Roman"/>
                <a:ea typeface="Times New Roman"/>
                <a:cs typeface="Times New Roman"/>
                <a:sym typeface="Times New Roman"/>
              </a:rPr>
              <a:t>ADC / DAC Resolution</a:t>
            </a:r>
            <a:endParaRPr sz="1200">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Sensor resolution requirements identified for future emergency stop integration</a:t>
            </a:r>
            <a:endParaRPr sz="120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endParaRPr sz="1200">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endParaRPr sz="1200">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1"/>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Integrate use of commercial modules</a:t>
            </a:r>
            <a:endParaRPr/>
          </a:p>
        </p:txBody>
      </p:sp>
      <p:sp>
        <p:nvSpPr>
          <p:cNvPr id="189" name="Google Shape;189;p31"/>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a:solidFill>
                  <a:schemeClr val="dk1"/>
                </a:solidFill>
                <a:latin typeface="Times New Roman"/>
                <a:ea typeface="Times New Roman"/>
                <a:cs typeface="Times New Roman"/>
                <a:sym typeface="Times New Roman"/>
              </a:rPr>
              <a:t>Cost vs Performance</a:t>
            </a:r>
            <a:endParaRPr sz="1200" b="1">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Commercial motors, motor drivers, and microcontroller were selected to meet functional requirements while keeping overall system cost low</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Performance is sufficient for finger actuation and self-lacing without over engineering</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chemeClr val="dk1"/>
                </a:solidFill>
                <a:latin typeface="Times New Roman"/>
                <a:ea typeface="Times New Roman"/>
                <a:cs typeface="Times New Roman"/>
                <a:sym typeface="Times New Roman"/>
              </a:rPr>
              <a:t>Size vs Cooling</a:t>
            </a:r>
            <a:endParaRPr sz="1200" b="1">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Compact commercial components were chosen to fit inside the forearm housing</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Component placement was planned to allow airflow and reduce heat buildup</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No thermal issues observed during simulation testing</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chemeClr val="dk1"/>
                </a:solidFill>
                <a:latin typeface="Times New Roman"/>
                <a:ea typeface="Times New Roman"/>
                <a:cs typeface="Times New Roman"/>
                <a:sym typeface="Times New Roman"/>
              </a:rPr>
              <a:t>Accuracy vs Bandwidth</a:t>
            </a:r>
            <a:endParaRPr sz="1200" b="1">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Motor control accuracy provided by commercial drivers is adequate for prosthetic motion</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High-speed bandwidth was not prioritized, as smooth and controlled movement is more important than rapid response</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2"/>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Integrate use of commercial modules</a:t>
            </a:r>
            <a:endParaRPr/>
          </a:p>
        </p:txBody>
      </p:sp>
      <p:sp>
        <p:nvSpPr>
          <p:cNvPr id="195" name="Google Shape;195;p32"/>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a:solidFill>
                  <a:schemeClr val="dk1"/>
                </a:solidFill>
                <a:latin typeface="Times New Roman"/>
                <a:ea typeface="Times New Roman"/>
                <a:cs typeface="Times New Roman"/>
                <a:sym typeface="Times New Roman"/>
              </a:rPr>
              <a:t>Complexity vs Schedule</a:t>
            </a:r>
            <a:endParaRPr sz="1200" b="1">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Using commercial modules reduced development complexity</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Allowed the team to focus on mechanical design and system integration</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chemeClr val="dk1"/>
                </a:solidFill>
                <a:latin typeface="Times New Roman"/>
                <a:ea typeface="Times New Roman"/>
                <a:cs typeface="Times New Roman"/>
                <a:sym typeface="Times New Roman"/>
              </a:rPr>
              <a:t>COTS (Commercial Off-the-Shelf) vs Custom</a:t>
            </a:r>
            <a:endParaRPr sz="1200" b="1">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COTS components used for electronics and actuation to reduce risk</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Custom design effort focused on 3D-printed mechanical components and cable routing</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Custom design: Fingers, palm, adjustable forearm, telescoping rod, self-lacing mechanism</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chemeClr val="dk1"/>
                </a:solidFill>
                <a:latin typeface="Times New Roman"/>
                <a:ea typeface="Times New Roman"/>
                <a:cs typeface="Times New Roman"/>
                <a:sym typeface="Times New Roman"/>
              </a:rPr>
              <a:t>Cost</a:t>
            </a:r>
            <a:endParaRPr sz="1200" b="1">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The custom arm design uses 3D-printed parts to reduce manufacturing cost</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Modular mechanical design allows easy modification without replacing electronics</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3"/>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Test and Validation</a:t>
            </a:r>
            <a:endParaRPr/>
          </a:p>
        </p:txBody>
      </p:sp>
      <p:sp>
        <p:nvSpPr>
          <p:cNvPr id="201" name="Google Shape;201;p33"/>
          <p:cNvSpPr txBox="1">
            <a:spLocks noGrp="1"/>
          </p:cNvSpPr>
          <p:nvPr>
            <p:ph type="body" idx="1"/>
          </p:nvPr>
        </p:nvSpPr>
        <p:spPr>
          <a:xfrm>
            <a:off x="712625" y="1017725"/>
            <a:ext cx="7030500" cy="384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000000"/>
                </a:solidFill>
                <a:latin typeface="Times New Roman"/>
                <a:ea typeface="Times New Roman"/>
                <a:cs typeface="Times New Roman"/>
                <a:sym typeface="Times New Roman"/>
              </a:rPr>
              <a:t>Test Conditions</a:t>
            </a:r>
            <a:endParaRPr sz="1200" b="1">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Bench-top testing of 3D-printed mechanical components</a:t>
            </a: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Physical test prints used to evaluate finger joints and extending rod</a:t>
            </a: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Times New Roman"/>
              <a:buChar char="●"/>
            </a:pPr>
            <a:r>
              <a:rPr lang="en" sz="1200">
                <a:solidFill>
                  <a:schemeClr val="dk1"/>
                </a:solidFill>
                <a:latin typeface="Times New Roman"/>
                <a:ea typeface="Times New Roman"/>
                <a:cs typeface="Times New Roman"/>
                <a:sym typeface="Times New Roman"/>
              </a:rPr>
              <a:t>Circuit and firmware tested using Tinkercad simulations</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Incremental testing performed before full system integration</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chemeClr val="dk1"/>
                </a:solidFill>
                <a:latin typeface="Times New Roman"/>
                <a:ea typeface="Times New Roman"/>
                <a:cs typeface="Times New Roman"/>
                <a:sym typeface="Times New Roman"/>
              </a:rPr>
              <a:t>Pass / Fail Targets</a:t>
            </a:r>
            <a:endParaRPr sz="1200" b="1">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Finger joints bend to the required range of motion</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Telescoping rod extends and locks securely</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Motors and actuators respond correctly to control inputs</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Cable routing allows smooth line movement without binding</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chemeClr val="dk1"/>
                </a:solidFill>
                <a:latin typeface="Times New Roman"/>
                <a:ea typeface="Times New Roman"/>
                <a:cs typeface="Times New Roman"/>
                <a:sym typeface="Times New Roman"/>
              </a:rPr>
              <a:t>Observed Errors</a:t>
            </a:r>
            <a:endParaRPr sz="1200" b="1">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Initial finger joint designs limited range of motion</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Firmware required refinement to support multiple motors</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Cable routing in the hand caused line feeding issues</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Risk and mitigation	</a:t>
            </a:r>
            <a:endParaRPr/>
          </a:p>
        </p:txBody>
      </p:sp>
      <p:sp>
        <p:nvSpPr>
          <p:cNvPr id="207" name="Google Shape;207;p34"/>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solidFill>
                  <a:schemeClr val="dk1"/>
                </a:solidFill>
                <a:latin typeface="Times New Roman"/>
                <a:ea typeface="Times New Roman"/>
                <a:cs typeface="Times New Roman"/>
                <a:sym typeface="Times New Roman"/>
              </a:rPr>
              <a:t>Supply/ Lead time:</a:t>
            </a:r>
            <a:endParaRPr sz="1200">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All parts have already been ordered and delivered </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Remaining parts are all 3D printed</a:t>
            </a:r>
            <a:endParaRPr sz="1200">
              <a:latin typeface="Times New Roman"/>
              <a:ea typeface="Times New Roman"/>
              <a:cs typeface="Times New Roman"/>
              <a:sym typeface="Times New Roman"/>
            </a:endParaRPr>
          </a:p>
          <a:p>
            <a:pPr marL="0" lvl="0" indent="0" algn="l" rtl="0">
              <a:spcBef>
                <a:spcPts val="1200"/>
              </a:spcBef>
              <a:spcAft>
                <a:spcPts val="0"/>
              </a:spcAft>
              <a:buNone/>
            </a:pPr>
            <a:r>
              <a:rPr lang="en" sz="1200">
                <a:solidFill>
                  <a:schemeClr val="dk1"/>
                </a:solidFill>
                <a:latin typeface="Times New Roman"/>
                <a:ea typeface="Times New Roman"/>
                <a:cs typeface="Times New Roman"/>
                <a:sym typeface="Times New Roman"/>
              </a:rPr>
              <a:t>EMI/ESD issues: </a:t>
            </a:r>
            <a:endParaRPr sz="1200">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a:latin typeface="Times New Roman"/>
                <a:ea typeface="Times New Roman"/>
                <a:cs typeface="Times New Roman"/>
                <a:sym typeface="Times New Roman"/>
              </a:rPr>
              <a:t>Capacitors being used for filtering </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Silicone will also be used in  housing cavities </a:t>
            </a:r>
            <a:endParaRPr sz="1200">
              <a:latin typeface="Times New Roman"/>
              <a:ea typeface="Times New Roman"/>
              <a:cs typeface="Times New Roman"/>
              <a:sym typeface="Times New Roman"/>
            </a:endParaRPr>
          </a:p>
          <a:p>
            <a:pPr marL="0" lvl="0" indent="0" algn="l" rtl="0">
              <a:spcBef>
                <a:spcPts val="1200"/>
              </a:spcBef>
              <a:spcAft>
                <a:spcPts val="0"/>
              </a:spcAft>
              <a:buNone/>
            </a:pPr>
            <a:r>
              <a:rPr lang="en" sz="1200">
                <a:solidFill>
                  <a:schemeClr val="dk1"/>
                </a:solidFill>
                <a:latin typeface="Times New Roman"/>
                <a:ea typeface="Times New Roman"/>
                <a:cs typeface="Times New Roman"/>
                <a:sym typeface="Times New Roman"/>
              </a:rPr>
              <a:t>Thermal margin: </a:t>
            </a:r>
            <a:endParaRPr sz="1200">
              <a:solidFill>
                <a:schemeClr val="dk1"/>
              </a:solidFill>
              <a:latin typeface="Times New Roman"/>
              <a:ea typeface="Times New Roman"/>
              <a:cs typeface="Times New Roman"/>
              <a:sym typeface="Times New Roman"/>
            </a:endParaRPr>
          </a:p>
          <a:p>
            <a:pPr marL="457200" lvl="0" indent="-304800" algn="l" rtl="0">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The battery under normal operation can get warm (~20-</a:t>
            </a:r>
            <a:r>
              <a:rPr lang="en" sz="1200">
                <a:latin typeface="Times New Roman"/>
                <a:ea typeface="Times New Roman"/>
                <a:cs typeface="Times New Roman"/>
                <a:sym typeface="Times New Roman"/>
              </a:rPr>
              <a:t>30</a:t>
            </a:r>
            <a:r>
              <a:rPr lang="en" sz="1200">
                <a:solidFill>
                  <a:schemeClr val="dk1"/>
                </a:solidFill>
                <a:latin typeface="Times New Roman"/>
                <a:ea typeface="Times New Roman"/>
                <a:cs typeface="Times New Roman"/>
                <a:sym typeface="Times New Roman"/>
              </a:rPr>
              <a:t>C) </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The melting temperature of the PLA (150-180C) </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Consideration will be taken with heat vents to ensure the battery doesn't reach critical temperatures</a:t>
            </a:r>
            <a:endParaRPr sz="12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3D Print Considerations/ Biomaterial</a:t>
            </a:r>
            <a:endParaRPr/>
          </a:p>
        </p:txBody>
      </p:sp>
      <p:sp>
        <p:nvSpPr>
          <p:cNvPr id="213" name="Google Shape;213;p35"/>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PLA: Safe for extended skin contact</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Strength of PLA: current infill 15% final will be 50% infill to increase strength with extra interior walls</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Print orientation: final prints will be printed horizontally to create more resistant against downward force (perpendicular not parallel)</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PLA:  biocompatible with human skin but small ridges of 3D printing will be taken into account</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Silicone: Safest for extended skin contact without irritation </a:t>
            </a:r>
            <a:endParaRPr sz="1200">
              <a:latin typeface="Times New Roman"/>
              <a:ea typeface="Times New Roman"/>
              <a:cs typeface="Times New Roman"/>
              <a:sym typeface="Times New Roman"/>
            </a:endParaRPr>
          </a:p>
          <a:p>
            <a:pPr marL="0" lvl="0" indent="0" algn="l" rtl="0">
              <a:spcBef>
                <a:spcPts val="1200"/>
              </a:spcBef>
              <a:spcAft>
                <a:spcPts val="0"/>
              </a:spcAft>
              <a:buNone/>
            </a:pPr>
            <a:endParaRPr sz="1200">
              <a:latin typeface="Times New Roman"/>
              <a:ea typeface="Times New Roman"/>
              <a:cs typeface="Times New Roman"/>
              <a:sym typeface="Times New Roman"/>
            </a:endParaRPr>
          </a:p>
          <a:p>
            <a:pPr marL="0" lvl="0" indent="0" algn="l" rtl="0">
              <a:spcBef>
                <a:spcPts val="1200"/>
              </a:spcBef>
              <a:spcAft>
                <a:spcPts val="1200"/>
              </a:spcAft>
              <a:buNone/>
            </a:pPr>
            <a:r>
              <a:rPr lang="en"/>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Gantt chart</a:t>
            </a:r>
            <a:endParaRPr/>
          </a:p>
        </p:txBody>
      </p:sp>
      <p:pic>
        <p:nvPicPr>
          <p:cNvPr id="219" name="Google Shape;219;p36"/>
          <p:cNvPicPr preferRelativeResize="0"/>
          <p:nvPr/>
        </p:nvPicPr>
        <p:blipFill>
          <a:blip r:embed="rId3">
            <a:alphaModFix/>
          </a:blip>
          <a:stretch>
            <a:fillRect/>
          </a:stretch>
        </p:blipFill>
        <p:spPr>
          <a:xfrm>
            <a:off x="152400" y="1210625"/>
            <a:ext cx="8839199" cy="264983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7"/>
          <p:cNvSpPr txBox="1">
            <a:spLocks noGrp="1"/>
          </p:cNvSpPr>
          <p:nvPr>
            <p:ph type="title"/>
          </p:nvPr>
        </p:nvSpPr>
        <p:spPr>
          <a:xfrm>
            <a:off x="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Budget Table</a:t>
            </a:r>
            <a:endParaRPr/>
          </a:p>
        </p:txBody>
      </p:sp>
      <p:graphicFrame>
        <p:nvGraphicFramePr>
          <p:cNvPr id="225" name="Google Shape;225;p37"/>
          <p:cNvGraphicFramePr/>
          <p:nvPr/>
        </p:nvGraphicFramePr>
        <p:xfrm>
          <a:off x="2169475" y="63375"/>
          <a:ext cx="3000000" cy="3000000"/>
        </p:xfrm>
        <a:graphic>
          <a:graphicData uri="http://schemas.openxmlformats.org/drawingml/2006/table">
            <a:tbl>
              <a:tblPr>
                <a:noFill/>
                <a:tableStyleId>{491205EF-5B13-46E4-86EE-77241638B498}</a:tableStyleId>
              </a:tblPr>
              <a:tblGrid>
                <a:gridCol w="3511600">
                  <a:extLst>
                    <a:ext uri="{9D8B030D-6E8A-4147-A177-3AD203B41FA5}">
                      <a16:colId xmlns:a16="http://schemas.microsoft.com/office/drawing/2014/main" val="20000"/>
                    </a:ext>
                  </a:extLst>
                </a:gridCol>
                <a:gridCol w="3511600">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a:t>Item</a:t>
                      </a:r>
                      <a:endParaRPr/>
                    </a:p>
                  </a:txBody>
                  <a:tcPr marL="91425" marR="91425" marT="91425" marB="91425"/>
                </a:tc>
                <a:tc>
                  <a:txBody>
                    <a:bodyPr/>
                    <a:lstStyle/>
                    <a:p>
                      <a:pPr marL="0" lvl="0" indent="0" algn="ctr" rtl="0">
                        <a:spcBef>
                          <a:spcPts val="0"/>
                        </a:spcBef>
                        <a:spcAft>
                          <a:spcPts val="0"/>
                        </a:spcAft>
                        <a:buNone/>
                      </a:pPr>
                      <a:r>
                        <a:rPr lang="en"/>
                        <a:t>Cost</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Arduino Uno</a:t>
                      </a:r>
                      <a:endParaRPr/>
                    </a:p>
                  </a:txBody>
                  <a:tcPr marL="91425" marR="91425" marT="91425" marB="91425"/>
                </a:tc>
                <a:tc>
                  <a:txBody>
                    <a:bodyPr/>
                    <a:lstStyle/>
                    <a:p>
                      <a:pPr marL="0" lvl="0" indent="0" algn="l" rtl="0">
                        <a:spcBef>
                          <a:spcPts val="0"/>
                        </a:spcBef>
                        <a:spcAft>
                          <a:spcPts val="0"/>
                        </a:spcAft>
                        <a:buNone/>
                      </a:pPr>
                      <a:r>
                        <a:rPr lang="en"/>
                        <a:t>$27</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Linear actuator</a:t>
                      </a:r>
                      <a:endParaRPr/>
                    </a:p>
                  </a:txBody>
                  <a:tcPr marL="91425" marR="91425" marT="91425" marB="91425"/>
                </a:tc>
                <a:tc>
                  <a:txBody>
                    <a:bodyPr/>
                    <a:lstStyle/>
                    <a:p>
                      <a:pPr marL="0" lvl="0" indent="0" algn="l" rtl="0">
                        <a:spcBef>
                          <a:spcPts val="0"/>
                        </a:spcBef>
                        <a:spcAft>
                          <a:spcPts val="0"/>
                        </a:spcAft>
                        <a:buNone/>
                      </a:pPr>
                      <a:r>
                        <a:rPr lang="en"/>
                        <a:t>$30</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Motor Driver</a:t>
                      </a:r>
                      <a:endParaRPr/>
                    </a:p>
                  </a:txBody>
                  <a:tcPr marL="91425" marR="91425" marT="91425" marB="91425"/>
                </a:tc>
                <a:tc>
                  <a:txBody>
                    <a:bodyPr/>
                    <a:lstStyle/>
                    <a:p>
                      <a:pPr marL="0" lvl="0" indent="0" algn="l" rtl="0">
                        <a:spcBef>
                          <a:spcPts val="0"/>
                        </a:spcBef>
                        <a:spcAft>
                          <a:spcPts val="0"/>
                        </a:spcAft>
                        <a:buNone/>
                      </a:pPr>
                      <a:r>
                        <a:rPr lang="en"/>
                        <a:t>$10</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t>Servo Motor</a:t>
                      </a:r>
                      <a:endParaRPr/>
                    </a:p>
                  </a:txBody>
                  <a:tcPr marL="91425" marR="91425" marT="91425" marB="91425"/>
                </a:tc>
                <a:tc>
                  <a:txBody>
                    <a:bodyPr/>
                    <a:lstStyle/>
                    <a:p>
                      <a:pPr marL="0" lvl="0" indent="0" algn="l" rtl="0">
                        <a:spcBef>
                          <a:spcPts val="0"/>
                        </a:spcBef>
                        <a:spcAft>
                          <a:spcPts val="0"/>
                        </a:spcAft>
                        <a:buNone/>
                      </a:pPr>
                      <a:r>
                        <a:rPr lang="en"/>
                        <a:t>$15</a:t>
                      </a: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a:t>Bread Board</a:t>
                      </a:r>
                      <a:endParaRPr/>
                    </a:p>
                  </a:txBody>
                  <a:tcPr marL="91425" marR="91425" marT="91425" marB="91425"/>
                </a:tc>
                <a:tc>
                  <a:txBody>
                    <a:bodyPr/>
                    <a:lstStyle/>
                    <a:p>
                      <a:pPr marL="0" lvl="0" indent="0" algn="l" rtl="0">
                        <a:spcBef>
                          <a:spcPts val="0"/>
                        </a:spcBef>
                        <a:spcAft>
                          <a:spcPts val="0"/>
                        </a:spcAft>
                        <a:buNone/>
                      </a:pPr>
                      <a:r>
                        <a:rPr lang="en"/>
                        <a:t>$5</a:t>
                      </a:r>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a:t>Resistors</a:t>
                      </a:r>
                      <a:endParaRPr/>
                    </a:p>
                  </a:txBody>
                  <a:tcPr marL="91425" marR="91425" marT="91425" marB="91425"/>
                </a:tc>
                <a:tc>
                  <a:txBody>
                    <a:bodyPr/>
                    <a:lstStyle/>
                    <a:p>
                      <a:pPr marL="0" lvl="0" indent="0" algn="l" rtl="0">
                        <a:spcBef>
                          <a:spcPts val="0"/>
                        </a:spcBef>
                        <a:spcAft>
                          <a:spcPts val="0"/>
                        </a:spcAft>
                        <a:buNone/>
                      </a:pPr>
                      <a:r>
                        <a:rPr lang="en"/>
                        <a:t>$5</a:t>
                      </a:r>
                      <a:endParaRPr/>
                    </a:p>
                  </a:txBody>
                  <a:tcPr marL="91425" marR="91425" marT="91425" marB="91425"/>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a:t>Capacitors</a:t>
                      </a:r>
                      <a:endParaRPr/>
                    </a:p>
                  </a:txBody>
                  <a:tcPr marL="91425" marR="91425" marT="91425" marB="91425"/>
                </a:tc>
                <a:tc>
                  <a:txBody>
                    <a:bodyPr/>
                    <a:lstStyle/>
                    <a:p>
                      <a:pPr marL="0" lvl="0" indent="0" algn="l" rtl="0">
                        <a:spcBef>
                          <a:spcPts val="0"/>
                        </a:spcBef>
                        <a:spcAft>
                          <a:spcPts val="0"/>
                        </a:spcAft>
                        <a:buNone/>
                      </a:pPr>
                      <a:r>
                        <a:rPr lang="en"/>
                        <a:t>$5</a:t>
                      </a:r>
                      <a:endParaRPr/>
                    </a:p>
                  </a:txBody>
                  <a:tcPr marL="91425" marR="91425" marT="91425" marB="91425"/>
                </a:tc>
                <a:extLst>
                  <a:ext uri="{0D108BD9-81ED-4DB2-BD59-A6C34878D82A}">
                    <a16:rowId xmlns:a16="http://schemas.microsoft.com/office/drawing/2014/main" val="10007"/>
                  </a:ext>
                </a:extLst>
              </a:tr>
              <a:tr h="381000">
                <a:tc>
                  <a:txBody>
                    <a:bodyPr/>
                    <a:lstStyle/>
                    <a:p>
                      <a:pPr marL="0" lvl="0" indent="0" algn="l" rtl="0">
                        <a:spcBef>
                          <a:spcPts val="0"/>
                        </a:spcBef>
                        <a:spcAft>
                          <a:spcPts val="0"/>
                        </a:spcAft>
                        <a:buNone/>
                      </a:pPr>
                      <a:r>
                        <a:rPr lang="en"/>
                        <a:t>Battery Pack</a:t>
                      </a:r>
                      <a:endParaRPr/>
                    </a:p>
                  </a:txBody>
                  <a:tcPr marL="91425" marR="91425" marT="91425" marB="91425"/>
                </a:tc>
                <a:tc>
                  <a:txBody>
                    <a:bodyPr/>
                    <a:lstStyle/>
                    <a:p>
                      <a:pPr marL="0" lvl="0" indent="0" algn="l" rtl="0">
                        <a:spcBef>
                          <a:spcPts val="0"/>
                        </a:spcBef>
                        <a:spcAft>
                          <a:spcPts val="0"/>
                        </a:spcAft>
                        <a:buNone/>
                      </a:pPr>
                      <a:r>
                        <a:rPr lang="en"/>
                        <a:t>$15</a:t>
                      </a:r>
                      <a:endParaRPr/>
                    </a:p>
                  </a:txBody>
                  <a:tcPr marL="91425" marR="91425" marT="91425" marB="91425"/>
                </a:tc>
                <a:extLst>
                  <a:ext uri="{0D108BD9-81ED-4DB2-BD59-A6C34878D82A}">
                    <a16:rowId xmlns:a16="http://schemas.microsoft.com/office/drawing/2014/main" val="10008"/>
                  </a:ext>
                </a:extLst>
              </a:tr>
              <a:tr h="381000">
                <a:tc>
                  <a:txBody>
                    <a:bodyPr/>
                    <a:lstStyle/>
                    <a:p>
                      <a:pPr marL="0" lvl="0" indent="0" algn="l" rtl="0">
                        <a:spcBef>
                          <a:spcPts val="0"/>
                        </a:spcBef>
                        <a:spcAft>
                          <a:spcPts val="0"/>
                        </a:spcAft>
                        <a:buClr>
                          <a:schemeClr val="dk1"/>
                        </a:buClr>
                        <a:buSzPts val="1100"/>
                        <a:buFont typeface="Arial"/>
                        <a:buNone/>
                      </a:pPr>
                      <a:r>
                        <a:rPr lang="en">
                          <a:solidFill>
                            <a:schemeClr val="dk1"/>
                          </a:solidFill>
                        </a:rPr>
                        <a:t>PLA</a:t>
                      </a:r>
                      <a:endParaRPr/>
                    </a:p>
                  </a:txBody>
                  <a:tcPr marL="91425" marR="91425" marT="91425" marB="91425"/>
                </a:tc>
                <a:tc>
                  <a:txBody>
                    <a:bodyPr/>
                    <a:lstStyle/>
                    <a:p>
                      <a:pPr marL="0" lvl="0" indent="0" algn="l" rtl="0">
                        <a:spcBef>
                          <a:spcPts val="0"/>
                        </a:spcBef>
                        <a:spcAft>
                          <a:spcPts val="0"/>
                        </a:spcAft>
                        <a:buNone/>
                      </a:pPr>
                      <a:r>
                        <a:rPr lang="en"/>
                        <a:t>$20</a:t>
                      </a:r>
                      <a:endParaRPr/>
                    </a:p>
                  </a:txBody>
                  <a:tcPr marL="91425" marR="91425" marT="91425" marB="91425"/>
                </a:tc>
                <a:extLst>
                  <a:ext uri="{0D108BD9-81ED-4DB2-BD59-A6C34878D82A}">
                    <a16:rowId xmlns:a16="http://schemas.microsoft.com/office/drawing/2014/main" val="10009"/>
                  </a:ext>
                </a:extLst>
              </a:tr>
              <a:tr h="381000">
                <a:tc>
                  <a:txBody>
                    <a:bodyPr/>
                    <a:lstStyle/>
                    <a:p>
                      <a:pPr marL="0" lvl="0" indent="0" algn="l" rtl="0">
                        <a:spcBef>
                          <a:spcPts val="0"/>
                        </a:spcBef>
                        <a:spcAft>
                          <a:spcPts val="0"/>
                        </a:spcAft>
                        <a:buNone/>
                      </a:pPr>
                      <a:r>
                        <a:rPr lang="en">
                          <a:solidFill>
                            <a:schemeClr val="dk1"/>
                          </a:solidFill>
                        </a:rPr>
                        <a:t>Actuator </a:t>
                      </a:r>
                      <a:endParaRPr>
                        <a:solidFill>
                          <a:schemeClr val="dk1"/>
                        </a:solidFill>
                      </a:endParaRPr>
                    </a:p>
                  </a:txBody>
                  <a:tcPr marL="91425" marR="91425" marT="91425" marB="91425"/>
                </a:tc>
                <a:tc>
                  <a:txBody>
                    <a:bodyPr/>
                    <a:lstStyle/>
                    <a:p>
                      <a:pPr marL="0" lvl="0" indent="0" algn="l" rtl="0">
                        <a:spcBef>
                          <a:spcPts val="0"/>
                        </a:spcBef>
                        <a:spcAft>
                          <a:spcPts val="0"/>
                        </a:spcAft>
                        <a:buNone/>
                      </a:pPr>
                      <a:r>
                        <a:rPr lang="en"/>
                        <a:t>$35</a:t>
                      </a:r>
                      <a:endParaRPr/>
                    </a:p>
                  </a:txBody>
                  <a:tcPr marL="91425" marR="91425" marT="91425" marB="91425"/>
                </a:tc>
                <a:extLst>
                  <a:ext uri="{0D108BD9-81ED-4DB2-BD59-A6C34878D82A}">
                    <a16:rowId xmlns:a16="http://schemas.microsoft.com/office/drawing/2014/main" val="10010"/>
                  </a:ext>
                </a:extLst>
              </a:tr>
              <a:tr h="381000">
                <a:tc>
                  <a:txBody>
                    <a:bodyPr/>
                    <a:lstStyle/>
                    <a:p>
                      <a:pPr marL="0" lvl="0" indent="0" algn="l" rtl="0">
                        <a:spcBef>
                          <a:spcPts val="0"/>
                        </a:spcBef>
                        <a:spcAft>
                          <a:spcPts val="0"/>
                        </a:spcAft>
                        <a:buClr>
                          <a:schemeClr val="dk1"/>
                        </a:buClr>
                        <a:buSzPts val="1100"/>
                        <a:buFont typeface="Arial"/>
                        <a:buNone/>
                      </a:pPr>
                      <a:r>
                        <a:rPr lang="en">
                          <a:solidFill>
                            <a:schemeClr val="dk1"/>
                          </a:solidFill>
                        </a:rPr>
                        <a:t>Silicon Bands</a:t>
                      </a:r>
                      <a:endParaRPr>
                        <a:solidFill>
                          <a:schemeClr val="dk1"/>
                        </a:solidFill>
                      </a:endParaRPr>
                    </a:p>
                  </a:txBody>
                  <a:tcPr marL="91425" marR="91425" marT="91425" marB="91425"/>
                </a:tc>
                <a:tc>
                  <a:txBody>
                    <a:bodyPr/>
                    <a:lstStyle/>
                    <a:p>
                      <a:pPr marL="0" lvl="0" indent="0" algn="l" rtl="0">
                        <a:spcBef>
                          <a:spcPts val="0"/>
                        </a:spcBef>
                        <a:spcAft>
                          <a:spcPts val="0"/>
                        </a:spcAft>
                        <a:buNone/>
                      </a:pPr>
                      <a:r>
                        <a:rPr lang="en"/>
                        <a:t>$8</a:t>
                      </a:r>
                      <a:endParaRPr/>
                    </a:p>
                  </a:txBody>
                  <a:tcPr marL="91425" marR="91425" marT="91425" marB="91425"/>
                </a:tc>
                <a:extLst>
                  <a:ext uri="{0D108BD9-81ED-4DB2-BD59-A6C34878D82A}">
                    <a16:rowId xmlns:a16="http://schemas.microsoft.com/office/drawing/2014/main" val="10011"/>
                  </a:ext>
                </a:extLst>
              </a:tr>
            </a:tbl>
          </a:graphicData>
        </a:graphic>
      </p:graphicFrame>
      <p:sp>
        <p:nvSpPr>
          <p:cNvPr id="226" name="Google Shape;226;p37"/>
          <p:cNvSpPr txBox="1"/>
          <p:nvPr/>
        </p:nvSpPr>
        <p:spPr>
          <a:xfrm>
            <a:off x="209300" y="2440575"/>
            <a:ext cx="1138200" cy="73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Old Standard TT"/>
                <a:ea typeface="Old Standard TT"/>
                <a:cs typeface="Old Standard TT"/>
                <a:sym typeface="Old Standard TT"/>
              </a:rPr>
              <a:t>Total:</a:t>
            </a:r>
            <a:endParaRPr sz="1800">
              <a:solidFill>
                <a:schemeClr val="dk1"/>
              </a:solidFill>
              <a:latin typeface="Old Standard TT"/>
              <a:ea typeface="Old Standard TT"/>
              <a:cs typeface="Old Standard TT"/>
              <a:sym typeface="Old Standard TT"/>
            </a:endParaRPr>
          </a:p>
          <a:p>
            <a:pPr marL="0" lvl="0" indent="0" algn="l" rtl="0">
              <a:spcBef>
                <a:spcPts val="0"/>
              </a:spcBef>
              <a:spcAft>
                <a:spcPts val="0"/>
              </a:spcAft>
              <a:buNone/>
            </a:pPr>
            <a:r>
              <a:rPr lang="en" sz="1800">
                <a:solidFill>
                  <a:schemeClr val="dk1"/>
                </a:solidFill>
                <a:latin typeface="Old Standard TT"/>
                <a:ea typeface="Old Standard TT"/>
                <a:cs typeface="Old Standard TT"/>
                <a:sym typeface="Old Standard TT"/>
              </a:rPr>
              <a:t>$175</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8"/>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Team collaboration chart</a:t>
            </a:r>
            <a:endParaRPr/>
          </a:p>
        </p:txBody>
      </p:sp>
      <p:graphicFrame>
        <p:nvGraphicFramePr>
          <p:cNvPr id="232" name="Google Shape;232;p38"/>
          <p:cNvGraphicFramePr/>
          <p:nvPr/>
        </p:nvGraphicFramePr>
        <p:xfrm>
          <a:off x="311700" y="1295250"/>
          <a:ext cx="3000000" cy="3000000"/>
        </p:xfrm>
        <a:graphic>
          <a:graphicData uri="http://schemas.openxmlformats.org/drawingml/2006/table">
            <a:tbl>
              <a:tblPr>
                <a:noFill/>
                <a:tableStyleId>{491205EF-5B13-46E4-86EE-77241638B498}</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501550">
                <a:tc>
                  <a:txBody>
                    <a:bodyPr/>
                    <a:lstStyle/>
                    <a:p>
                      <a:pPr marL="0" lvl="0" indent="0" algn="l" rtl="0">
                        <a:spcBef>
                          <a:spcPts val="0"/>
                        </a:spcBef>
                        <a:spcAft>
                          <a:spcPts val="0"/>
                        </a:spcAft>
                        <a:buNone/>
                      </a:pPr>
                      <a:r>
                        <a:rPr lang="en"/>
                        <a:t>Member</a:t>
                      </a:r>
                      <a:endParaRPr/>
                    </a:p>
                  </a:txBody>
                  <a:tcPr marL="91425" marR="91425" marT="91425" marB="91425"/>
                </a:tc>
                <a:tc>
                  <a:txBody>
                    <a:bodyPr/>
                    <a:lstStyle/>
                    <a:p>
                      <a:pPr marL="0" lvl="0" indent="0" algn="l" rtl="0">
                        <a:spcBef>
                          <a:spcPts val="0"/>
                        </a:spcBef>
                        <a:spcAft>
                          <a:spcPts val="0"/>
                        </a:spcAft>
                        <a:buNone/>
                      </a:pPr>
                      <a:r>
                        <a:rPr lang="en"/>
                        <a:t>Contributions</a:t>
                      </a:r>
                      <a:endParaRPr/>
                    </a:p>
                  </a:txBody>
                  <a:tcPr marL="91425" marR="91425" marT="91425" marB="91425"/>
                </a:tc>
                <a:tc>
                  <a:txBody>
                    <a:bodyPr/>
                    <a:lstStyle/>
                    <a:p>
                      <a:pPr marL="0" lvl="0" indent="0" algn="l" rtl="0">
                        <a:spcBef>
                          <a:spcPts val="0"/>
                        </a:spcBef>
                        <a:spcAft>
                          <a:spcPts val="0"/>
                        </a:spcAft>
                        <a:buNone/>
                      </a:pPr>
                      <a:r>
                        <a:rPr lang="en"/>
                        <a:t>Notes</a:t>
                      </a:r>
                      <a:endParaRPr/>
                    </a:p>
                  </a:txBody>
                  <a:tcPr marL="91425" marR="91425" marT="91425" marB="91425"/>
                </a:tc>
                <a:extLst>
                  <a:ext uri="{0D108BD9-81ED-4DB2-BD59-A6C34878D82A}">
                    <a16:rowId xmlns:a16="http://schemas.microsoft.com/office/drawing/2014/main" val="10000"/>
                  </a:ext>
                </a:extLst>
              </a:tr>
              <a:tr h="940525">
                <a:tc>
                  <a:txBody>
                    <a:bodyPr/>
                    <a:lstStyle/>
                    <a:p>
                      <a:pPr marL="0" lvl="0" indent="0" algn="l" rtl="0">
                        <a:spcBef>
                          <a:spcPts val="0"/>
                        </a:spcBef>
                        <a:spcAft>
                          <a:spcPts val="0"/>
                        </a:spcAft>
                        <a:buNone/>
                      </a:pPr>
                      <a:r>
                        <a:rPr lang="en"/>
                        <a:t>Basel</a:t>
                      </a:r>
                      <a:endParaRPr/>
                    </a:p>
                  </a:txBody>
                  <a:tcPr marL="91425" marR="91425" marT="91425" marB="91425"/>
                </a:tc>
                <a:tc>
                  <a:txBody>
                    <a:bodyPr/>
                    <a:lstStyle/>
                    <a:p>
                      <a:pPr marL="0" lvl="0" indent="0" algn="l" rtl="0">
                        <a:spcBef>
                          <a:spcPts val="0"/>
                        </a:spcBef>
                        <a:spcAft>
                          <a:spcPts val="0"/>
                        </a:spcAft>
                        <a:buNone/>
                      </a:pPr>
                      <a:r>
                        <a:rPr lang="en" sz="1200"/>
                        <a:t>Joint design, Self-lacing mechanism brackets planning, biomechanical research</a:t>
                      </a:r>
                      <a:endParaRPr sz="1200"/>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1071250">
                <a:tc>
                  <a:txBody>
                    <a:bodyPr/>
                    <a:lstStyle/>
                    <a:p>
                      <a:pPr marL="0" lvl="0" indent="0" algn="l" rtl="0">
                        <a:spcBef>
                          <a:spcPts val="0"/>
                        </a:spcBef>
                        <a:spcAft>
                          <a:spcPts val="0"/>
                        </a:spcAft>
                        <a:buNone/>
                      </a:pPr>
                      <a:r>
                        <a:rPr lang="en"/>
                        <a:t>James</a:t>
                      </a:r>
                      <a:endParaRPr/>
                    </a:p>
                  </a:txBody>
                  <a:tcPr marL="91425" marR="91425" marT="91425" marB="91425"/>
                </a:tc>
                <a:tc>
                  <a:txBody>
                    <a:bodyPr/>
                    <a:lstStyle/>
                    <a:p>
                      <a:pPr marL="0" lvl="0" indent="0" algn="l" rtl="0">
                        <a:spcBef>
                          <a:spcPts val="0"/>
                        </a:spcBef>
                        <a:spcAft>
                          <a:spcPts val="0"/>
                        </a:spcAft>
                        <a:buNone/>
                      </a:pPr>
                      <a:r>
                        <a:rPr lang="en" sz="1200"/>
                        <a:t>3D printing, Finger design, Hand design, Telescoping rod design, prosthetic design, prosthetic layout, biomechanical research, biomaterial research</a:t>
                      </a:r>
                      <a:endParaRPr sz="1200"/>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1163375">
                <a:tc>
                  <a:txBody>
                    <a:bodyPr/>
                    <a:lstStyle/>
                    <a:p>
                      <a:pPr marL="0" lvl="0" indent="0" algn="l" rtl="0">
                        <a:spcBef>
                          <a:spcPts val="0"/>
                        </a:spcBef>
                        <a:spcAft>
                          <a:spcPts val="0"/>
                        </a:spcAft>
                        <a:buNone/>
                      </a:pPr>
                      <a:r>
                        <a:rPr lang="en"/>
                        <a:t>Eric</a:t>
                      </a:r>
                      <a:endParaRPr/>
                    </a:p>
                  </a:txBody>
                  <a:tcPr marL="91425" marR="91425" marT="91425" marB="91425"/>
                </a:tc>
                <a:tc>
                  <a:txBody>
                    <a:bodyPr/>
                    <a:lstStyle/>
                    <a:p>
                      <a:pPr marL="0" lvl="0" indent="0" algn="l" rtl="0">
                        <a:spcBef>
                          <a:spcPts val="0"/>
                        </a:spcBef>
                        <a:spcAft>
                          <a:spcPts val="0"/>
                        </a:spcAft>
                        <a:buNone/>
                      </a:pPr>
                      <a:r>
                        <a:rPr lang="en" sz="1200"/>
                        <a:t>Circuit design, github, schematics,flowchart,wiring and testing,coding,Electrical Research </a:t>
                      </a:r>
                      <a:endParaRPr sz="1200"/>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9"/>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Similar products </a:t>
            </a:r>
            <a:endParaRPr/>
          </a:p>
        </p:txBody>
      </p:sp>
      <p:pic>
        <p:nvPicPr>
          <p:cNvPr id="238" name="Google Shape;238;p39"/>
          <p:cNvPicPr preferRelativeResize="0"/>
          <p:nvPr/>
        </p:nvPicPr>
        <p:blipFill>
          <a:blip r:embed="rId3">
            <a:alphaModFix/>
          </a:blip>
          <a:stretch>
            <a:fillRect/>
          </a:stretch>
        </p:blipFill>
        <p:spPr>
          <a:xfrm>
            <a:off x="311700" y="1017725"/>
            <a:ext cx="3468700" cy="2650550"/>
          </a:xfrm>
          <a:prstGeom prst="rect">
            <a:avLst/>
          </a:prstGeom>
          <a:noFill/>
          <a:ln>
            <a:noFill/>
          </a:ln>
        </p:spPr>
      </p:pic>
      <p:sp>
        <p:nvSpPr>
          <p:cNvPr id="239" name="Google Shape;239;p39"/>
          <p:cNvSpPr txBox="1"/>
          <p:nvPr/>
        </p:nvSpPr>
        <p:spPr>
          <a:xfrm>
            <a:off x="413850" y="3813275"/>
            <a:ext cx="3307500" cy="8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Enable 3D Printed and another 3D printed hand</a:t>
            </a:r>
            <a:endParaRPr sz="1800">
              <a:solidFill>
                <a:schemeClr val="dk2"/>
              </a:solidFill>
            </a:endParaRPr>
          </a:p>
        </p:txBody>
      </p:sp>
      <p:pic>
        <p:nvPicPr>
          <p:cNvPr id="240" name="Google Shape;240;p39"/>
          <p:cNvPicPr preferRelativeResize="0"/>
          <p:nvPr/>
        </p:nvPicPr>
        <p:blipFill>
          <a:blip r:embed="rId4">
            <a:alphaModFix/>
          </a:blip>
          <a:stretch>
            <a:fillRect/>
          </a:stretch>
        </p:blipFill>
        <p:spPr>
          <a:xfrm>
            <a:off x="3836725" y="1017725"/>
            <a:ext cx="2038100" cy="3445875"/>
          </a:xfrm>
          <a:prstGeom prst="rect">
            <a:avLst/>
          </a:prstGeom>
          <a:noFill/>
          <a:ln>
            <a:noFill/>
          </a:ln>
        </p:spPr>
      </p:pic>
      <p:pic>
        <p:nvPicPr>
          <p:cNvPr id="241" name="Google Shape;241;p39"/>
          <p:cNvPicPr preferRelativeResize="0"/>
          <p:nvPr/>
        </p:nvPicPr>
        <p:blipFill>
          <a:blip r:embed="rId5">
            <a:alphaModFix/>
          </a:blip>
          <a:stretch>
            <a:fillRect/>
          </a:stretch>
        </p:blipFill>
        <p:spPr>
          <a:xfrm>
            <a:off x="6078923" y="583825"/>
            <a:ext cx="1719475" cy="4135676"/>
          </a:xfrm>
          <a:prstGeom prst="rect">
            <a:avLst/>
          </a:prstGeom>
          <a:noFill/>
          <a:ln>
            <a:noFill/>
          </a:ln>
        </p:spPr>
      </p:pic>
      <p:sp>
        <p:nvSpPr>
          <p:cNvPr id="242" name="Google Shape;242;p39"/>
          <p:cNvSpPr txBox="1"/>
          <p:nvPr/>
        </p:nvSpPr>
        <p:spPr>
          <a:xfrm>
            <a:off x="7900000" y="1596250"/>
            <a:ext cx="1130700" cy="265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Open Bionics Hero</a:t>
            </a:r>
            <a:endParaRPr sz="1800">
              <a:solidFill>
                <a:schemeClr val="dk2"/>
              </a:solidFill>
            </a:endParaRPr>
          </a:p>
          <a:p>
            <a:pPr marL="0" lvl="0" indent="0" algn="l" rtl="0">
              <a:spcBef>
                <a:spcPts val="0"/>
              </a:spcBef>
              <a:spcAft>
                <a:spcPts val="0"/>
              </a:spcAft>
              <a:buNone/>
            </a:pPr>
            <a:r>
              <a:rPr lang="en" sz="1800">
                <a:solidFill>
                  <a:schemeClr val="dk2"/>
                </a:solidFill>
              </a:rPr>
              <a:t>$6,000</a:t>
            </a:r>
            <a:endParaRPr sz="18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40"/>
          <p:cNvSpPr txBox="1">
            <a:spLocks noGrp="1"/>
          </p:cNvSpPr>
          <p:nvPr>
            <p:ph type="title"/>
          </p:nvPr>
        </p:nvSpPr>
        <p:spPr>
          <a:xfrm>
            <a:off x="2772600" y="844100"/>
            <a:ext cx="29991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1497</Words>
  <Application>Microsoft Office PowerPoint</Application>
  <PresentationFormat>On-screen Show (16:9)</PresentationFormat>
  <Paragraphs>228</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Old Standard TT</vt:lpstr>
      <vt:lpstr>Arial</vt:lpstr>
      <vt:lpstr>Times New Roman</vt:lpstr>
      <vt:lpstr>Paperback</vt:lpstr>
      <vt:lpstr>Senior Project Design Review</vt:lpstr>
      <vt:lpstr>Problem/Motivation </vt:lpstr>
      <vt:lpstr>Problem/Motivation  </vt:lpstr>
      <vt:lpstr>Hand Anatomy and Design Relevance </vt:lpstr>
      <vt:lpstr>Physiological Principles </vt:lpstr>
      <vt:lpstr>Biology to Engineering</vt:lpstr>
      <vt:lpstr>Engineering Progress </vt:lpstr>
      <vt:lpstr>Circuit Progress</vt:lpstr>
      <vt:lpstr>Firmware / Software Progress </vt:lpstr>
      <vt:lpstr>Preliminary Design </vt:lpstr>
      <vt:lpstr>PowerPoint Presentation</vt:lpstr>
      <vt:lpstr>PowerPoint Presentation</vt:lpstr>
      <vt:lpstr>PowerPoint Presentation</vt:lpstr>
      <vt:lpstr> </vt:lpstr>
      <vt:lpstr>PowerPoint Presentation</vt:lpstr>
      <vt:lpstr>Verification plan and status</vt:lpstr>
      <vt:lpstr>System Integration</vt:lpstr>
      <vt:lpstr>System power integration</vt:lpstr>
      <vt:lpstr>Integrate use of commercial modules</vt:lpstr>
      <vt:lpstr>Integrate use of commercial modules</vt:lpstr>
      <vt:lpstr>Test and Validation</vt:lpstr>
      <vt:lpstr>Risk and mitigation </vt:lpstr>
      <vt:lpstr>3D Print Considerations/ Biomaterial</vt:lpstr>
      <vt:lpstr>Gantt chart</vt:lpstr>
      <vt:lpstr>Budget Table</vt:lpstr>
      <vt:lpstr>Team collaboration chart</vt:lpstr>
      <vt:lpstr>Similar products </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Eric Carlos</cp:lastModifiedBy>
  <cp:revision>1</cp:revision>
  <dcterms:modified xsi:type="dcterms:W3CDTF">2026-02-07T02:49:38Z</dcterms:modified>
</cp:coreProperties>
</file>